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6BD6"/>
          </a:solidFill>
          <a:ln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2188952" cy="73152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789920" y="182880"/>
            <a:ext cx="109728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600" b="0" i="0">
                <a:solidFill>
                  <a:srgbClr val="00B4D8"/>
                </a:solidFill>
                <a:latin typeface="Segoe UI Emoji"/>
              </a:rPr>
              <a:t>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731520"/>
            <a:ext cx="1024128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4800" b="1" i="0">
                <a:solidFill>
                  <a:srgbClr val="FFFFFF"/>
                </a:solidFill>
                <a:latin typeface="Aptos"/>
              </a:rPr>
              <a:t>DESIGN TO DECEIVE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691640"/>
            <a:ext cx="10241280" cy="10058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800" b="0" i="0">
                <a:solidFill>
                  <a:srgbClr val="00B4D8"/>
                </a:solidFill>
                <a:latin typeface="Aptos"/>
              </a:rPr>
              <a:t>AI-Based Browser Extension for Real-Time Detection of
Dark Patterns and Phishing Attacks Using RoBERTa-Based NLP Models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2743200"/>
            <a:ext cx="9601200" cy="50292"/>
          </a:xfrm>
          <a:prstGeom prst="rect">
            <a:avLst/>
          </a:prstGeom>
          <a:solidFill>
            <a:srgbClr val="F5C518"/>
          </a:solidFill>
          <a:ln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2880360"/>
            <a:ext cx="5303520" cy="205740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8A98B8"/>
                </a:solidFill>
                <a:latin typeface="Aptos"/>
              </a:rPr>
              <a:t>Submitted By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24612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Musharaf Maqbool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3547872"/>
            <a:ext cx="4937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D0D8EA"/>
                </a:solidFill>
                <a:latin typeface="Aptos"/>
              </a:rPr>
              <a:t>Roll No: 2022BITE053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822191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FFFFF"/>
                </a:solidFill>
                <a:latin typeface="Aptos"/>
              </a:rPr>
              <a:t>Mohammad Huzaif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4133087"/>
            <a:ext cx="4937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D0D8EA"/>
                </a:solidFill>
                <a:latin typeface="Aptos"/>
              </a:rPr>
              <a:t>Roll No: 2022BITE047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407408"/>
            <a:ext cx="5120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D0D8EA"/>
                </a:solidFill>
                <a:latin typeface="Aptos"/>
              </a:rPr>
              <a:t>Gazi Mohammad Rayan Shah  |  Roll No: 2022BITE049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309360" y="2880360"/>
            <a:ext cx="5303520" cy="205740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92240" y="292608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8A98B8"/>
                </a:solidFill>
                <a:latin typeface="Aptos"/>
              </a:rPr>
              <a:t>Project Guide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3246120"/>
            <a:ext cx="49377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F5C518"/>
                </a:solidFill>
                <a:latin typeface="Aptos"/>
              </a:rPr>
              <a:t>Dr. Shabir Ahmad Sofi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3611880"/>
            <a:ext cx="4937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D0D8EA"/>
                </a:solidFill>
                <a:latin typeface="Aptos"/>
              </a:rPr>
              <a:t>Associate Professor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3886200"/>
            <a:ext cx="49377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D0D8EA"/>
                </a:solidFill>
                <a:latin typeface="Aptos"/>
              </a:rPr>
              <a:t>Dept. of Information Technology &amp; Engineering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4224528"/>
            <a:ext cx="49377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00B4D8"/>
                </a:solidFill>
                <a:latin typeface="Aptos"/>
              </a:rPr>
              <a:t>NIT Srinagar, J&amp;K  |  June 2026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5943600"/>
            <a:ext cx="11868912" cy="914400"/>
          </a:xfrm>
          <a:prstGeom prst="rect">
            <a:avLst/>
          </a:prstGeom>
          <a:solidFill>
            <a:srgbClr val="0A1F5C"/>
          </a:solidFill>
          <a:ln>
            <a:solidFill>
              <a:srgbClr val="0A1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320040" y="5943600"/>
            <a:ext cx="11868912" cy="50292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94360" y="6016752"/>
            <a:ext cx="8686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FFFFF"/>
                </a:solidFill>
                <a:latin typeface="Aptos"/>
              </a:rPr>
              <a:t>Department of Information Technology and Engineering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94360" y="6382512"/>
            <a:ext cx="8686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8A98B8"/>
                </a:solidFill>
                <a:latin typeface="Aptos"/>
              </a:rPr>
              <a:t>National Institute of Technology Srinagar  ·  Hazratbal, Srinagar, J&amp;K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8A98B8"/>
                </a:solidFill>
                <a:latin typeface="Aptos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A1F5C"/>
          </a:solidFill>
          <a:ln>
            <a:solidFill>
              <a:srgbClr val="0A1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0292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Problem Statement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0B4D8"/>
                </a:solidFill>
                <a:latin typeface="Aptos"/>
              </a:rPr>
              <a:t>The Growing Threat of Deceptive Web Practices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F5C"/>
          </a:solidFill>
          <a:ln>
            <a:solidFill>
              <a:srgbClr val="0A1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8A98B8"/>
                </a:solidFill>
                <a:latin typeface="Aptos"/>
              </a:rPr>
              <a:t>DESIGN TO DECEIVE  ·  NIT Srinagar  ·  Dept. of Information Technology and Engineering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5394960" cy="3977639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5394960" cy="64008"/>
          </a:xfrm>
          <a:prstGeom prst="rect">
            <a:avLst/>
          </a:prstGeom>
          <a:solidFill>
            <a:srgbClr val="1E6BD6"/>
          </a:solidFill>
          <a:ln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1481328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00B4D8"/>
                </a:solidFill>
                <a:latin typeface="Aptos"/>
              </a:rPr>
              <a:t>🎭  Dark Patterns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1920240"/>
            <a:ext cx="502920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400"/>
              </a:spcBef>
            </a:pPr>
            <a:r>
              <a:rPr sz="1300" b="0">
                <a:solidFill>
                  <a:srgbClr val="D0D8EA"/>
                </a:solidFill>
                <a:latin typeface="Aptos"/>
              </a:rPr>
              <a:t>▸ Intentional UI manipulation exploiting cognitive biases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D0D8EA"/>
                </a:solidFill>
                <a:latin typeface="Aptos"/>
              </a:rPr>
              <a:t>▸ Urgency tactics, hidden costs, confirmshaming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D0D8EA"/>
                </a:solidFill>
                <a:latin typeface="Aptos"/>
              </a:rPr>
              <a:t>▸ Structurally identical to legitimate UI — evade firewalls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D0D8EA"/>
                </a:solidFill>
                <a:latin typeface="Aptos"/>
              </a:rPr>
              <a:t>▸ Coerce users into unintended purchases/subscriptions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D0D8EA"/>
                </a:solidFill>
                <a:latin typeface="Aptos"/>
              </a:rPr>
              <a:t>▸ Widespread across 11,000+ shopping websites (Mathur et al.)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989320" y="1417320"/>
            <a:ext cx="5852160" cy="3977639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989320" y="1417320"/>
            <a:ext cx="5852160" cy="64008"/>
          </a:xfrm>
          <a:prstGeom prst="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481328"/>
            <a:ext cx="54864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600" b="1" i="0">
                <a:solidFill>
                  <a:srgbClr val="FF8080"/>
                </a:solidFill>
                <a:latin typeface="Aptos"/>
              </a:rPr>
              <a:t>🎣  Phishing Attacks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920240"/>
            <a:ext cx="5486400" cy="32004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400"/>
              </a:spcBef>
            </a:pPr>
            <a:r>
              <a:rPr sz="1300" b="0">
                <a:solidFill>
                  <a:srgbClr val="D0D8EA"/>
                </a:solidFill>
                <a:latin typeface="Aptos"/>
              </a:rPr>
              <a:t>▸ Zero-day domains, cloned interfaces, social engineering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D0D8EA"/>
                </a:solidFill>
                <a:latin typeface="Aptos"/>
              </a:rPr>
              <a:t>▸ Traditional blacklists fail against novel phishing URLs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D0D8EA"/>
                </a:solidFill>
                <a:latin typeface="Aptos"/>
              </a:rPr>
              <a:t>▸ False positives: GitHub/Google/PayPal flagged as phishing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D0D8EA"/>
                </a:solidFill>
                <a:latin typeface="Aptos"/>
              </a:rPr>
              <a:t>▸ RoBERTa-only systems trigger on keywords: "login", "verify"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D0D8EA"/>
                </a:solidFill>
                <a:latin typeface="Aptos"/>
              </a:rPr>
              <a:t>▸ Alert fatigue → users disable security controls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5532120"/>
            <a:ext cx="11475720" cy="777240"/>
          </a:xfrm>
          <a:prstGeom prst="rect">
            <a:avLst/>
          </a:prstGeom>
          <a:solidFill>
            <a:srgbClr val="0D2A6B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65760" y="5532120"/>
            <a:ext cx="11475720" cy="54864"/>
          </a:xfrm>
          <a:prstGeom prst="rect">
            <a:avLst/>
          </a:prstGeom>
          <a:solidFill>
            <a:srgbClr val="F5C518"/>
          </a:solidFill>
          <a:ln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596128"/>
            <a:ext cx="111556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5C518"/>
                </a:solidFill>
                <a:latin typeface="Aptos"/>
              </a:rPr>
              <a:t>⚠  Core Gap: No unified, real-time, context-aware system detects BOTH dark patterns AND phishing while eliminating false positives on trusted domains.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8A98B8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A1F5C"/>
          </a:solidFill>
          <a:ln>
            <a:solidFill>
              <a:srgbClr val="0A1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0292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Motivation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0B4D8"/>
                </a:solidFill>
                <a:latin typeface="Aptos"/>
              </a:rPr>
              <a:t>Why This Project Was Essential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F5C"/>
          </a:solidFill>
          <a:ln>
            <a:solidFill>
              <a:srgbClr val="0A1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8A98B8"/>
                </a:solidFill>
                <a:latin typeface="Aptos"/>
              </a:rPr>
              <a:t>DESIGN TO DECEIVE  ·  NIT Srinagar  ·  Dept. of Information Technology and Engineering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417320"/>
            <a:ext cx="2560320" cy="182880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417320"/>
            <a:ext cx="2560320" cy="64008"/>
          </a:xfrm>
          <a:prstGeom prst="rect">
            <a:avLst/>
          </a:prstGeom>
          <a:solidFill>
            <a:srgbClr val="1E6BD6"/>
          </a:solidFill>
          <a:ln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554480"/>
            <a:ext cx="25603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000" b="1" i="0">
                <a:solidFill>
                  <a:srgbClr val="F5C518"/>
                </a:solidFill>
                <a:latin typeface="Aptos"/>
              </a:rPr>
              <a:t>11,000+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2240280"/>
            <a:ext cx="2560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D0D8EA"/>
                </a:solidFill>
                <a:latin typeface="Aptos"/>
              </a:rPr>
              <a:t>Shopping sites with
dark patterns
(Mathur et al., 2019)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246120" y="1417320"/>
            <a:ext cx="2560320" cy="182880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3246120" y="1417320"/>
            <a:ext cx="2560320" cy="64008"/>
          </a:xfrm>
          <a:prstGeom prst="rect">
            <a:avLst/>
          </a:prstGeom>
          <a:solidFill>
            <a:srgbClr val="1E6BD6"/>
          </a:solidFill>
          <a:ln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246120" y="1554480"/>
            <a:ext cx="25603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000" b="1" i="0">
                <a:solidFill>
                  <a:srgbClr val="F5C518"/>
                </a:solidFill>
                <a:latin typeface="Aptos"/>
              </a:rPr>
              <a:t>1,818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46120" y="2240280"/>
            <a:ext cx="2560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D0D8EA"/>
                </a:solidFill>
                <a:latin typeface="Aptos"/>
              </a:rPr>
              <a:t>Dark pattern
instances detected
in large-scale crawl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126480" y="1417320"/>
            <a:ext cx="2560320" cy="182880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126480" y="1417320"/>
            <a:ext cx="2560320" cy="64008"/>
          </a:xfrm>
          <a:prstGeom prst="rect">
            <a:avLst/>
          </a:prstGeom>
          <a:solidFill>
            <a:srgbClr val="1E6BD6"/>
          </a:solidFill>
          <a:ln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1554480"/>
            <a:ext cx="25603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000" b="1" i="0">
                <a:solidFill>
                  <a:srgbClr val="F5C518"/>
                </a:solidFill>
                <a:latin typeface="Aptos"/>
              </a:rPr>
              <a:t>3.4B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240280"/>
            <a:ext cx="2560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D0D8EA"/>
                </a:solidFill>
                <a:latin typeface="Aptos"/>
              </a:rPr>
              <a:t>Phishing emails
sent daily
worldwide (2024)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9006840" y="1417320"/>
            <a:ext cx="2560320" cy="182880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006840" y="1417320"/>
            <a:ext cx="2560320" cy="64008"/>
          </a:xfrm>
          <a:prstGeom prst="rect">
            <a:avLst/>
          </a:prstGeom>
          <a:solidFill>
            <a:srgbClr val="1E6BD6"/>
          </a:solidFill>
          <a:ln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06840" y="1554480"/>
            <a:ext cx="256032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3000" b="1" i="0">
                <a:solidFill>
                  <a:srgbClr val="F5C518"/>
                </a:solidFill>
                <a:latin typeface="Aptos"/>
              </a:rPr>
              <a:t>$17.3B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06840" y="2240280"/>
            <a:ext cx="2560320" cy="9144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D0D8EA"/>
                </a:solidFill>
                <a:latin typeface="Aptos"/>
              </a:rPr>
              <a:t>Annual losses from
phishing attacks
globally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429000"/>
            <a:ext cx="11475720" cy="265176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365760" y="3429000"/>
            <a:ext cx="11475720" cy="54864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3493008"/>
            <a:ext cx="45720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0B4D8"/>
                </a:solidFill>
                <a:latin typeface="Aptos"/>
              </a:rPr>
              <a:t>Key Drivers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3858768"/>
            <a:ext cx="11064240" cy="21488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50"/>
              </a:spcBef>
            </a:pPr>
            <a:r>
              <a:rPr sz="1250" b="0">
                <a:solidFill>
                  <a:srgbClr val="D0D8EA"/>
                </a:solidFill>
                <a:latin typeface="Aptos"/>
              </a:rPr>
              <a:t>▸ Traditional browser defenses rely on static blacklists — ineffective against zero-day and semantic attacks</a:t>
            </a:r>
          </a:p>
          <a:p>
            <a:pPr algn="l">
              <a:spcBef>
                <a:spcPts val="250"/>
              </a:spcBef>
            </a:pPr>
            <a:r>
              <a:rPr sz="1250" b="0">
                <a:solidFill>
                  <a:srgbClr val="D0D8EA"/>
                </a:solidFill>
                <a:latin typeface="Aptos"/>
              </a:rPr>
              <a:t>▸ RoBERTa achieves 97.5% accuracy on dark pattern text classification (Yada et al., 2022)</a:t>
            </a:r>
          </a:p>
          <a:p>
            <a:pPr algn="l">
              <a:spcBef>
                <a:spcPts val="250"/>
              </a:spcBef>
            </a:pPr>
            <a:r>
              <a:rPr sz="1250" b="0">
                <a:solidFill>
                  <a:srgbClr val="D0D8EA"/>
                </a:solidFill>
                <a:latin typeface="Aptos"/>
              </a:rPr>
              <a:t>▸ GPEN 2024: Majority of global platforms employ at least one deceptive design pattern</a:t>
            </a:r>
          </a:p>
          <a:p>
            <a:pPr algn="l">
              <a:spcBef>
                <a:spcPts val="250"/>
              </a:spcBef>
            </a:pPr>
            <a:r>
              <a:rPr sz="1250" b="0">
                <a:solidFill>
                  <a:srgbClr val="D0D8EA"/>
                </a:solidFill>
                <a:latin typeface="Aptos"/>
              </a:rPr>
              <a:t>▸ Legal recognition of dark patterns as GDPR violations demands automated real-time detection tools</a:t>
            </a:r>
          </a:p>
          <a:p>
            <a:pPr algn="l">
              <a:spcBef>
                <a:spcPts val="250"/>
              </a:spcBef>
            </a:pPr>
            <a:r>
              <a:rPr sz="1250" b="0">
                <a:solidFill>
                  <a:srgbClr val="D0D8EA"/>
                </a:solidFill>
                <a:latin typeface="Aptos"/>
              </a:rPr>
              <a:t>▸ Semantic NLP understanding is superior to keyword-matching for phishing classification</a:t>
            </a:r>
          </a:p>
          <a:p>
            <a:pPr algn="l">
              <a:spcBef>
                <a:spcPts val="250"/>
              </a:spcBef>
            </a:pPr>
            <a:r>
              <a:rPr sz="1250" b="0">
                <a:solidFill>
                  <a:srgbClr val="D0D8EA"/>
                </a:solidFill>
                <a:latin typeface="Aptos"/>
              </a:rPr>
              <a:t>▸ No existing tool combines phishing + dark pattern detection in a single real-time browser extension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8A98B8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A1F5C"/>
          </a:solidFill>
          <a:ln>
            <a:solidFill>
              <a:srgbClr val="0A1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0292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Objectives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0B4D8"/>
                </a:solidFill>
                <a:latin typeface="Aptos"/>
              </a:rPr>
              <a:t>What DESIGN TO DECEIVE Aims to Achieve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F5C"/>
          </a:solidFill>
          <a:ln>
            <a:solidFill>
              <a:srgbClr val="0A1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8A98B8"/>
                </a:solidFill>
                <a:latin typeface="Aptos"/>
              </a:rPr>
              <a:t>DESIGN TO DECEIVE  ·  NIT Srinagar  ·  Dept. of Information Technology and Engineering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71600"/>
            <a:ext cx="5486400" cy="1389888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60" y="1371600"/>
            <a:ext cx="475488" cy="1389888"/>
          </a:xfrm>
          <a:prstGeom prst="rect">
            <a:avLst/>
          </a:prstGeom>
          <a:solidFill>
            <a:srgbClr val="1E6BD6"/>
          </a:solidFill>
          <a:ln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737360"/>
            <a:ext cx="475488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444752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0B4D8"/>
                </a:solidFill>
                <a:latin typeface="Aptos"/>
              </a:rPr>
              <a:t>Dynamic DOM Scanning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828800"/>
            <a:ext cx="48463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D0D8EA"/>
                </a:solidFill>
                <a:latin typeface="Aptos"/>
              </a:rPr>
              <a:t>Real-time traversal using MutationObserver — supports SPAs (React/Vue/Angular)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5486400" cy="1389888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475488" cy="1389888"/>
          </a:xfrm>
          <a:prstGeom prst="rect">
            <a:avLst/>
          </a:prstGeom>
          <a:solidFill>
            <a:srgbClr val="1E6BD6"/>
          </a:solidFill>
          <a:ln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09360" y="1737360"/>
            <a:ext cx="475488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1444752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0B4D8"/>
                </a:solidFill>
                <a:latin typeface="Aptos"/>
              </a:rPr>
              <a:t>RoBERTa NLP Backend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1828800"/>
            <a:ext cx="48463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D0D8EA"/>
                </a:solidFill>
                <a:latin typeface="Aptos"/>
              </a:rPr>
              <a:t>Fine-tuned transformer models via FastAPI for semantic classification of threats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852928"/>
            <a:ext cx="5486400" cy="1389888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5760" y="2852928"/>
            <a:ext cx="475488" cy="1389888"/>
          </a:xfrm>
          <a:prstGeom prst="rect">
            <a:avLst/>
          </a:prstGeom>
          <a:solidFill>
            <a:srgbClr val="1E6BD6"/>
          </a:solidFill>
          <a:ln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65760" y="3218688"/>
            <a:ext cx="475488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292608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0B4D8"/>
                </a:solidFill>
                <a:latin typeface="Aptos"/>
              </a:rPr>
              <a:t>Dual Detection Pipelines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3310128"/>
            <a:ext cx="48463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D0D8EA"/>
                </a:solidFill>
                <a:latin typeface="Aptos"/>
              </a:rPr>
              <a:t>Specialized models: one for dark patterns, one for phishing social engineering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2852928"/>
            <a:ext cx="5486400" cy="1389888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2852928"/>
            <a:ext cx="475488" cy="1389888"/>
          </a:xfrm>
          <a:prstGeom prst="rect">
            <a:avLst/>
          </a:prstGeom>
          <a:solidFill>
            <a:srgbClr val="1E6BD6"/>
          </a:solidFill>
          <a:ln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309360" y="3218688"/>
            <a:ext cx="475488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0" y="2926080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0B4D8"/>
                </a:solidFill>
                <a:latin typeface="Aptos"/>
              </a:rPr>
              <a:t>Threat Visualization 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0" y="3310128"/>
            <a:ext cx="48463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D0D8EA"/>
                </a:solidFill>
                <a:latin typeface="Aptos"/>
              </a:rPr>
              <a:t>Visual highlights, tooltips, risk scores, and cybersecurity dashboard popup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" y="4334256"/>
            <a:ext cx="5486400" cy="1389888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65760" y="4334256"/>
            <a:ext cx="475488" cy="1389888"/>
          </a:xfrm>
          <a:prstGeom prst="rect">
            <a:avLst/>
          </a:prstGeom>
          <a:solidFill>
            <a:srgbClr val="1E6BD6"/>
          </a:solidFill>
          <a:ln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5760" y="4700016"/>
            <a:ext cx="475488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14400" y="4407408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0B4D8"/>
                </a:solidFill>
                <a:latin typeface="Aptos"/>
              </a:rPr>
              <a:t>Hybrid Decision Engine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791456"/>
            <a:ext cx="48463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D0D8EA"/>
                </a:solidFill>
                <a:latin typeface="Aptos"/>
              </a:rPr>
              <a:t>URL reputation + domain whitelist + urgency heuristics + ML inference integrated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334256"/>
            <a:ext cx="5486400" cy="1389888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4334256"/>
            <a:ext cx="475488" cy="1389888"/>
          </a:xfrm>
          <a:prstGeom prst="rect">
            <a:avLst/>
          </a:prstGeom>
          <a:solidFill>
            <a:srgbClr val="1E6BD6"/>
          </a:solidFill>
          <a:ln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4700016"/>
            <a:ext cx="475488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1" i="0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58000" y="4407408"/>
            <a:ext cx="4846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0B4D8"/>
                </a:solidFill>
                <a:latin typeface="Aptos"/>
              </a:rPr>
              <a:t>Real-Time Performance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58000" y="4791456"/>
            <a:ext cx="48463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D0D8EA"/>
                </a:solidFill>
                <a:latin typeface="Aptos"/>
              </a:rPr>
              <a:t>Sub-second round-trip latency — avg. 220ms — for active browsing sessions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8A98B8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A1F5C"/>
          </a:solidFill>
          <a:ln>
            <a:solidFill>
              <a:srgbClr val="0A1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0292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Literature Survey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0B4D8"/>
                </a:solidFill>
                <a:latin typeface="Aptos"/>
              </a:rPr>
              <a:t>Review of Key Research Works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F5C"/>
          </a:solidFill>
          <a:ln>
            <a:solidFill>
              <a:srgbClr val="0A1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8A98B8"/>
                </a:solidFill>
                <a:latin typeface="Aptos"/>
              </a:rPr>
              <a:t>DESIGN TO DECEIVE  ·  NIT Srinagar  ·  Dept. of Information Technology and Engineering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3657600" cy="137160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71600"/>
            <a:ext cx="3657600" cy="54864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1444752"/>
            <a:ext cx="3474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0B4D8"/>
                </a:solidFill>
                <a:latin typeface="Aptos"/>
              </a:rPr>
              <a:t>Narayanan et al. (2020)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9768" y="1755648"/>
            <a:ext cx="347472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Aptos"/>
              </a:rPr>
              <a:t>Dark Patterns: Past, Present, Future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" y="2212848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1">
                <a:solidFill>
                  <a:srgbClr val="8A98B8"/>
                </a:solidFill>
                <a:latin typeface="Aptos"/>
              </a:rPr>
              <a:t>⚠ Conceptual taxonomy — no automated detection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24528" y="1371600"/>
            <a:ext cx="3657600" cy="137160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24528" y="1371600"/>
            <a:ext cx="3657600" cy="54864"/>
          </a:xfrm>
          <a:prstGeom prst="rect">
            <a:avLst/>
          </a:prstGeom>
          <a:solidFill>
            <a:srgbClr val="1E6BD6"/>
          </a:solidFill>
          <a:ln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34256" y="1444752"/>
            <a:ext cx="3474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E6BD6"/>
                </a:solidFill>
                <a:latin typeface="Aptos"/>
              </a:rPr>
              <a:t>Mathur et al. (2019)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34256" y="1755648"/>
            <a:ext cx="347472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Aptos"/>
              </a:rPr>
              <a:t>Dark Patterns at Scale — 11K sites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34256" y="2212848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1">
                <a:solidFill>
                  <a:srgbClr val="8A98B8"/>
                </a:solidFill>
                <a:latin typeface="Aptos"/>
              </a:rPr>
              <a:t>⚠ Visual/structural heuristics only — no NLP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129016" y="1371600"/>
            <a:ext cx="3657600" cy="137160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129016" y="1371600"/>
            <a:ext cx="3657600" cy="54864"/>
          </a:xfrm>
          <a:prstGeom prst="rect">
            <a:avLst/>
          </a:prstGeom>
          <a:solidFill>
            <a:srgbClr val="F5C518"/>
          </a:solidFill>
          <a:ln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38744" y="1444752"/>
            <a:ext cx="3474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5C518"/>
                </a:solidFill>
                <a:latin typeface="Aptos"/>
              </a:rPr>
              <a:t>Yada et al. (2022)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38744" y="1755648"/>
            <a:ext cx="347472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Aptos"/>
              </a:rPr>
              <a:t>RoBERTa: 97.5% on dark pattern dataset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38744" y="2212848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1">
                <a:solidFill>
                  <a:srgbClr val="8A98B8"/>
                </a:solidFill>
                <a:latin typeface="Aptos"/>
              </a:rPr>
              <a:t>⚠ Offline classification — no browser integration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2852928"/>
            <a:ext cx="3657600" cy="137160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2852928"/>
            <a:ext cx="3657600" cy="54864"/>
          </a:xfrm>
          <a:prstGeom prst="rect">
            <a:avLst/>
          </a:prstGeom>
          <a:solidFill>
            <a:srgbClr val="F39717"/>
          </a:solidFill>
          <a:ln>
            <a:solidFill>
              <a:srgbClr val="F39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29768" y="2926080"/>
            <a:ext cx="3474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39717"/>
                </a:solidFill>
                <a:latin typeface="Aptos"/>
              </a:rPr>
              <a:t>AidUI (2023)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9768" y="3236976"/>
            <a:ext cx="347472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Aptos"/>
              </a:rPr>
              <a:t>Multi-modal CV + NLP UI detection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9768" y="3694176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1">
                <a:solidFill>
                  <a:srgbClr val="8A98B8"/>
                </a:solidFill>
                <a:latin typeface="Aptos"/>
              </a:rPr>
              <a:t>⚠ Computationally expensive — not real-time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24528" y="2852928"/>
            <a:ext cx="3657600" cy="137160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224528" y="2852928"/>
            <a:ext cx="3657600" cy="54864"/>
          </a:xfrm>
          <a:prstGeom prst="rect">
            <a:avLst/>
          </a:prstGeom>
          <a:solidFill>
            <a:srgbClr val="BB86FC"/>
          </a:solidFill>
          <a:ln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334256" y="2926080"/>
            <a:ext cx="3474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BB86FC"/>
                </a:solidFill>
                <a:latin typeface="Aptos"/>
              </a:rPr>
              <a:t>DarkDialogs (2023)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34256" y="3236976"/>
            <a:ext cx="347472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Aptos"/>
              </a:rPr>
              <a:t>Cookie dialog dark pattern detection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34256" y="3694176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1">
                <a:solidFill>
                  <a:srgbClr val="8A98B8"/>
                </a:solidFill>
                <a:latin typeface="Aptos"/>
              </a:rPr>
              <a:t>⚠ Domain-specific — not generalizable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129016" y="2852928"/>
            <a:ext cx="3657600" cy="137160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129016" y="2852928"/>
            <a:ext cx="3657600" cy="54864"/>
          </a:xfrm>
          <a:prstGeom prst="rect">
            <a:avLst/>
          </a:prstGeom>
          <a:solidFill>
            <a:srgbClr val="FF8080"/>
          </a:solidFill>
          <a:ln>
            <a:solidFill>
              <a:srgbClr val="FF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38744" y="2926080"/>
            <a:ext cx="34747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8080"/>
                </a:solidFill>
                <a:latin typeface="Aptos"/>
              </a:rPr>
              <a:t>Transformer Phishing (2024)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38744" y="3236976"/>
            <a:ext cx="3474720" cy="47548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FFFFFF"/>
                </a:solidFill>
                <a:latin typeface="Aptos"/>
              </a:rPr>
              <a:t>BERT-based phishing email classifier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38744" y="3694176"/>
            <a:ext cx="34747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1">
                <a:solidFill>
                  <a:srgbClr val="8A98B8"/>
                </a:solidFill>
                <a:latin typeface="Aptos"/>
              </a:rPr>
              <a:t>⚠ Email only — no webpage DOM analysis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389120"/>
            <a:ext cx="11521440" cy="868680"/>
          </a:xfrm>
          <a:prstGeom prst="rect">
            <a:avLst/>
          </a:prstGeom>
          <a:solidFill>
            <a:srgbClr val="0D2A6B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0040" y="4389120"/>
            <a:ext cx="11521440" cy="54864"/>
          </a:xfrm>
          <a:prstGeom prst="rect">
            <a:avLst/>
          </a:prstGeom>
          <a:solidFill>
            <a:srgbClr val="F5C518"/>
          </a:solidFill>
          <a:ln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4462272"/>
            <a:ext cx="1115568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5C518"/>
                </a:solidFill>
                <a:latin typeface="Aptos"/>
              </a:rPr>
              <a:t>Research Gap: No existing system unifies dark pattern + phishing detection with real-time NLP inference, domain-aware context, and browser integration.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5376672"/>
            <a:ext cx="11521440" cy="91440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20040" y="5376672"/>
            <a:ext cx="11521440" cy="45720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57200" y="5394960"/>
            <a:ext cx="20116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00B4D8"/>
                </a:solidFill>
                <a:latin typeface="Aptos"/>
              </a:rPr>
              <a:t>Approach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2560320" y="5394960"/>
            <a:ext cx="20116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00B4D8"/>
                </a:solidFill>
                <a:latin typeface="Aptos"/>
              </a:rPr>
              <a:t>Dark Patterns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5394960"/>
            <a:ext cx="20116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00B4D8"/>
                </a:solidFill>
                <a:latin typeface="Aptos"/>
              </a:rPr>
              <a:t>Phishing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766560" y="5394960"/>
            <a:ext cx="20116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00B4D8"/>
                </a:solidFill>
                <a:latin typeface="Aptos"/>
              </a:rPr>
              <a:t>Real-Time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69680" y="5394960"/>
            <a:ext cx="246888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00B4D8"/>
                </a:solidFill>
                <a:latin typeface="Aptos"/>
              </a:rPr>
              <a:t>Transformer NLP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457200" y="5806440"/>
            <a:ext cx="2011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5C518"/>
                </a:solidFill>
                <a:latin typeface="Aptos"/>
              </a:rPr>
              <a:t>Proposed System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560320" y="5806440"/>
            <a:ext cx="2011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27AE60"/>
                </a:solidFill>
                <a:latin typeface="Aptos"/>
              </a:rPr>
              <a:t>✅ Yes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4663440" y="5806440"/>
            <a:ext cx="2011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27AE60"/>
                </a:solidFill>
                <a:latin typeface="Aptos"/>
              </a:rPr>
              <a:t>✅ Yes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6766560" y="5806440"/>
            <a:ext cx="2011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27AE60"/>
                </a:solidFill>
                <a:latin typeface="Aptos"/>
              </a:rPr>
              <a:t>✅ Yes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869680" y="5806440"/>
            <a:ext cx="24688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27AE60"/>
                </a:solidFill>
                <a:latin typeface="Aptos"/>
              </a:rPr>
              <a:t>✅ Yes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8A98B8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A1F5C"/>
          </a:solidFill>
          <a:ln>
            <a:solidFill>
              <a:srgbClr val="0A1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0292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Proposed System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0B4D8"/>
                </a:solidFill>
                <a:latin typeface="Aptos"/>
              </a:rPr>
              <a:t>Three-Tier Decoupled Client-Server Design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F5C"/>
          </a:solidFill>
          <a:ln>
            <a:solidFill>
              <a:srgbClr val="0A1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8A98B8"/>
                </a:solidFill>
                <a:latin typeface="Aptos"/>
              </a:rPr>
              <a:t>DESIGN TO DECEIVE  ·  NIT Srinagar  ·  Dept. of Information Technology and Engineering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3474720" cy="466344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71600"/>
            <a:ext cx="3474720" cy="64008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435608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00B4D8"/>
                </a:solidFill>
                <a:latin typeface="Aptos"/>
              </a:rPr>
              <a:t>🌐  Tier 1 — 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1847088"/>
            <a:ext cx="32918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8A98B8"/>
                </a:solidFill>
                <a:latin typeface="Aptos"/>
              </a:rPr>
              <a:t>Chrome Extension (MV3)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176272"/>
            <a:ext cx="3200400" cy="27432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240280"/>
            <a:ext cx="3291840" cy="3429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600"/>
              </a:spcBef>
            </a:pPr>
            <a:r>
              <a:rPr sz="1200" b="0">
                <a:solidFill>
                  <a:srgbClr val="D0D8EA"/>
                </a:solidFill>
                <a:latin typeface="Aptos"/>
              </a:rPr>
              <a:t>→  Content Script: DOM Scanner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D0D8EA"/>
                </a:solidFill>
                <a:latin typeface="Aptos"/>
              </a:rPr>
              <a:t>→  MutationObserver (SPA support)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D0D8EA"/>
                </a:solidFill>
                <a:latin typeface="Aptos"/>
              </a:rPr>
              <a:t>→  Background Service Worker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D0D8EA"/>
                </a:solidFill>
                <a:latin typeface="Aptos"/>
              </a:rPr>
              <a:t>→  Popup Dashboard UI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D0D8EA"/>
                </a:solidFill>
                <a:latin typeface="Aptos"/>
              </a:rPr>
              <a:t>→  Visual Highlights &amp; Tooltips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60520" y="1371600"/>
            <a:ext cx="3474720" cy="466344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160520" y="1371600"/>
            <a:ext cx="3474720" cy="64008"/>
          </a:xfrm>
          <a:prstGeom prst="rect">
            <a:avLst/>
          </a:prstGeom>
          <a:solidFill>
            <a:srgbClr val="1E6BD6"/>
          </a:solidFill>
          <a:ln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97680" y="1435608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E6BD6"/>
                </a:solidFill>
                <a:latin typeface="Aptos"/>
              </a:rPr>
              <a:t>⚙  Tier 2 — Middleware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97680" y="1847088"/>
            <a:ext cx="32918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8A98B8"/>
                </a:solidFill>
                <a:latin typeface="Aptos"/>
              </a:rPr>
              <a:t>FastAPI Backend Engine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2176272"/>
            <a:ext cx="3200400" cy="27432"/>
          </a:xfrm>
          <a:prstGeom prst="rect">
            <a:avLst/>
          </a:prstGeom>
          <a:solidFill>
            <a:srgbClr val="1E6BD6"/>
          </a:solidFill>
          <a:ln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97680" y="2240280"/>
            <a:ext cx="3291840" cy="3429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600"/>
              </a:spcBef>
            </a:pPr>
            <a:r>
              <a:rPr sz="1200" b="0">
                <a:solidFill>
                  <a:srgbClr val="D0D8EA"/>
                </a:solidFill>
                <a:latin typeface="Aptos"/>
              </a:rPr>
              <a:t>→  Async HTTP REST API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D0D8EA"/>
                </a:solidFill>
                <a:latin typeface="Aptos"/>
              </a:rPr>
              <a:t>→  Pydantic Schema Validation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D0D8EA"/>
                </a:solidFill>
                <a:latin typeface="Aptos"/>
              </a:rPr>
              <a:t>→  Request Batching &amp; Routing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D0D8EA"/>
                </a:solidFill>
                <a:latin typeface="Aptos"/>
              </a:rPr>
              <a:t>→  CORS Management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D0D8EA"/>
                </a:solidFill>
                <a:latin typeface="Aptos"/>
              </a:rPr>
              <a:t>→  Swagger / OpenAPI Docs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01000" y="1371600"/>
            <a:ext cx="3474720" cy="466344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01000" y="1371600"/>
            <a:ext cx="3474720" cy="64008"/>
          </a:xfrm>
          <a:prstGeom prst="rect">
            <a:avLst/>
          </a:prstGeom>
          <a:solidFill>
            <a:srgbClr val="F5C518"/>
          </a:solidFill>
          <a:ln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38160" y="1435608"/>
            <a:ext cx="32918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5C518"/>
                </a:solidFill>
                <a:latin typeface="Aptos"/>
              </a:rPr>
              <a:t>🧠  Tier 3 — Inference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38160" y="1847088"/>
            <a:ext cx="329184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0" i="0">
                <a:solidFill>
                  <a:srgbClr val="8A98B8"/>
                </a:solidFill>
                <a:latin typeface="Aptos"/>
              </a:rPr>
              <a:t>Hybrid NLP Engine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138160" y="2176272"/>
            <a:ext cx="3200400" cy="27432"/>
          </a:xfrm>
          <a:prstGeom prst="rect">
            <a:avLst/>
          </a:prstGeom>
          <a:solidFill>
            <a:srgbClr val="F5C518"/>
          </a:solidFill>
          <a:ln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0" y="2240280"/>
            <a:ext cx="3291840" cy="34290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600"/>
              </a:spcBef>
            </a:pPr>
            <a:r>
              <a:rPr sz="1200" b="0">
                <a:solidFill>
                  <a:srgbClr val="D0D8EA"/>
                </a:solidFill>
                <a:latin typeface="Aptos"/>
              </a:rPr>
              <a:t>→  RoBERTa Dark Pattern Model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D0D8EA"/>
                </a:solidFill>
                <a:latin typeface="Aptos"/>
              </a:rPr>
              <a:t>→  RoBERTa Phishing Model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D0D8EA"/>
                </a:solidFill>
                <a:latin typeface="Aptos"/>
              </a:rPr>
              <a:t>→  Domain Whitelist Checker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D0D8EA"/>
                </a:solidFill>
                <a:latin typeface="Aptos"/>
              </a:rPr>
              <a:t>→  URL Reputation Heuristics</a:t>
            </a:r>
          </a:p>
          <a:p>
            <a:pPr algn="l">
              <a:spcBef>
                <a:spcPts val="600"/>
              </a:spcBef>
            </a:pPr>
            <a:r>
              <a:rPr sz="1200" b="0">
                <a:solidFill>
                  <a:srgbClr val="D0D8EA"/>
                </a:solidFill>
                <a:latin typeface="Aptos"/>
              </a:rPr>
              <a:t>→  Risk Score Calculator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005072" y="3291840"/>
            <a:ext cx="5029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8A98B8"/>
                </a:solidFill>
                <a:latin typeface="Aptos"/>
              </a:rPr>
              <a:t>HTTP
POST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867912" y="3611880"/>
            <a:ext cx="7315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i="0">
                <a:solidFill>
                  <a:srgbClr val="1E6BD6"/>
                </a:solidFill>
                <a:latin typeface="Aptos"/>
              </a:rPr>
              <a:t>▶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790688" y="3246120"/>
            <a:ext cx="7315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8A98B8"/>
                </a:solidFill>
                <a:latin typeface="Aptos"/>
              </a:rPr>
              <a:t>Inference
Response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62672" y="3611880"/>
            <a:ext cx="822960" cy="3200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i="0">
                <a:solidFill>
                  <a:srgbClr val="F5C518"/>
                </a:solidFill>
                <a:latin typeface="Aptos"/>
              </a:rPr>
              <a:t>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8A98B8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A1F5C"/>
          </a:solidFill>
          <a:ln>
            <a:solidFill>
              <a:srgbClr val="0A1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0292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System Workflow &amp; Methodology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0B4D8"/>
                </a:solidFill>
                <a:latin typeface="Aptos"/>
              </a:rPr>
              <a:t>5-Phase Real-Time Detection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F5C"/>
          </a:solidFill>
          <a:ln>
            <a:solidFill>
              <a:srgbClr val="0A1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8A98B8"/>
                </a:solidFill>
                <a:latin typeface="Aptos"/>
              </a:rPr>
              <a:t>DESIGN TO DECEIVE  ·  NIT Srinagar  ·  Dept. of Information Technology and Engineering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88036" y="1463040"/>
            <a:ext cx="2103120" cy="100584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88036" y="1463040"/>
            <a:ext cx="2103120" cy="59436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8036" y="150876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8A98B8"/>
                </a:solidFill>
                <a:latin typeface="Aptos"/>
              </a:rPr>
              <a:t>Phase 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036" y="1755648"/>
            <a:ext cx="21031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00B4D8"/>
                </a:solidFill>
                <a:latin typeface="Aptos"/>
              </a:rPr>
              <a:t>Init &amp; Injection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91156" y="173736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 i="0">
                <a:solidFill>
                  <a:srgbClr val="8A98B8"/>
                </a:solidFill>
                <a:latin typeface="Aptos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665476" y="1463040"/>
            <a:ext cx="2103120" cy="100584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665476" y="1463040"/>
            <a:ext cx="2103120" cy="59436"/>
          </a:xfrm>
          <a:prstGeom prst="rect">
            <a:avLst/>
          </a:prstGeom>
          <a:solidFill>
            <a:srgbClr val="1E6BD6"/>
          </a:solidFill>
          <a:ln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65476" y="150876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8A98B8"/>
                </a:solidFill>
                <a:latin typeface="Aptos"/>
              </a:rPr>
              <a:t>Phase 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665476" y="1755648"/>
            <a:ext cx="21031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1E6BD6"/>
                </a:solidFill>
                <a:latin typeface="Aptos"/>
              </a:rPr>
              <a:t>Extraction &amp; Filter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68596" y="173736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 i="0">
                <a:solidFill>
                  <a:srgbClr val="8A98B8"/>
                </a:solidFill>
                <a:latin typeface="Aptos"/>
              </a:rPr>
              <a:t>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042916" y="1463040"/>
            <a:ext cx="2103120" cy="100584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042916" y="1463040"/>
            <a:ext cx="2103120" cy="59436"/>
          </a:xfrm>
          <a:prstGeom prst="rect">
            <a:avLst/>
          </a:prstGeom>
          <a:solidFill>
            <a:srgbClr val="F5C518"/>
          </a:solidFill>
          <a:ln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042916" y="150876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8A98B8"/>
                </a:solidFill>
                <a:latin typeface="Aptos"/>
              </a:rPr>
              <a:t>Phase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42916" y="1755648"/>
            <a:ext cx="21031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5C518"/>
                </a:solidFill>
                <a:latin typeface="Aptos"/>
              </a:rPr>
              <a:t>Payload Transmission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146036" y="173736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 i="0">
                <a:solidFill>
                  <a:srgbClr val="8A98B8"/>
                </a:solidFill>
                <a:latin typeface="Aptos"/>
              </a:rPr>
              <a:t>▶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20356" y="1463040"/>
            <a:ext cx="2103120" cy="100584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420356" y="1463040"/>
            <a:ext cx="2103120" cy="59436"/>
          </a:xfrm>
          <a:prstGeom prst="rect">
            <a:avLst/>
          </a:prstGeom>
          <a:solidFill>
            <a:srgbClr val="F39717"/>
          </a:solidFill>
          <a:ln>
            <a:solidFill>
              <a:srgbClr val="F39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420356" y="150876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8A98B8"/>
                </a:solidFill>
                <a:latin typeface="Aptos"/>
              </a:rPr>
              <a:t>Phase 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20356" y="1755648"/>
            <a:ext cx="21031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39717"/>
                </a:solidFill>
                <a:latin typeface="Aptos"/>
              </a:rPr>
              <a:t>Hybrid Inference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23476" y="1737360"/>
            <a:ext cx="2743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 i="0">
                <a:solidFill>
                  <a:srgbClr val="8A98B8"/>
                </a:solidFill>
                <a:latin typeface="Aptos"/>
              </a:rPr>
              <a:t>▶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797796" y="1463040"/>
            <a:ext cx="2103120" cy="100584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797796" y="1463040"/>
            <a:ext cx="2103120" cy="59436"/>
          </a:xfrm>
          <a:prstGeom prst="rect">
            <a:avLst/>
          </a:prstGeom>
          <a:solidFill>
            <a:srgbClr val="BB86FC"/>
          </a:solidFill>
          <a:ln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797796" y="1508760"/>
            <a:ext cx="21031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900" b="0" i="0">
                <a:solidFill>
                  <a:srgbClr val="8A98B8"/>
                </a:solidFill>
                <a:latin typeface="Aptos"/>
              </a:rPr>
              <a:t>Phase 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97796" y="1755648"/>
            <a:ext cx="21031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BB86FC"/>
                </a:solidFill>
                <a:latin typeface="Aptos"/>
              </a:rPr>
              <a:t>Visualization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2743200"/>
            <a:ext cx="3657600" cy="160020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2743200"/>
            <a:ext cx="3657600" cy="50292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29768" y="2816352"/>
            <a:ext cx="34747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0B4D8"/>
                </a:solidFill>
                <a:latin typeface="Aptos"/>
              </a:rPr>
              <a:t>DOM Scanner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9768" y="3182112"/>
            <a:ext cx="347472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D0D8EA"/>
                </a:solidFill>
                <a:latin typeface="Aptos"/>
              </a:rPr>
              <a:t>querySelectorAll on &lt;a&gt;, &lt;button&gt;,
&lt;input[submit]&gt;, &lt;form&gt;, &lt;div modal&gt;.
MutationObserver for dynamic SPAs.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233672" y="2743200"/>
            <a:ext cx="3657600" cy="160020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4233672" y="2743200"/>
            <a:ext cx="3657600" cy="50292"/>
          </a:xfrm>
          <a:prstGeom prst="rect">
            <a:avLst/>
          </a:prstGeom>
          <a:solidFill>
            <a:srgbClr val="1E6BD6"/>
          </a:solidFill>
          <a:ln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343400" y="2816352"/>
            <a:ext cx="34747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E6BD6"/>
                </a:solidFill>
                <a:latin typeface="Aptos"/>
              </a:rPr>
              <a:t>FastAPI Backend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343400" y="3182112"/>
            <a:ext cx="347472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D0D8EA"/>
                </a:solidFill>
                <a:latin typeface="Aptos"/>
              </a:rPr>
              <a:t>Async coroutines via Starlette.
Pydantic schema validation.
Batch inference from thread pool.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147304" y="2743200"/>
            <a:ext cx="3657600" cy="160020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147304" y="2743200"/>
            <a:ext cx="3657600" cy="50292"/>
          </a:xfrm>
          <a:prstGeom prst="rect">
            <a:avLst/>
          </a:prstGeom>
          <a:solidFill>
            <a:srgbClr val="F5C518"/>
          </a:solidFill>
          <a:ln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57032" y="2816352"/>
            <a:ext cx="34747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5C518"/>
                </a:solidFill>
                <a:latin typeface="Aptos"/>
              </a:rPr>
              <a:t>RoBERTa Inference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57032" y="3182112"/>
            <a:ext cx="347472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D0D8EA"/>
                </a:solidFill>
                <a:latin typeface="Aptos"/>
              </a:rPr>
              <a:t>Tokenizer → Tensor → Model forward pass.
2 models loaded at startup via PyTorch.
Returns logits + confidence score.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4526280"/>
            <a:ext cx="3657600" cy="160020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320040" y="4526280"/>
            <a:ext cx="3657600" cy="50292"/>
          </a:xfrm>
          <a:prstGeom prst="rect">
            <a:avLst/>
          </a:prstGeom>
          <a:solidFill>
            <a:srgbClr val="F39717"/>
          </a:solidFill>
          <a:ln>
            <a:solidFill>
              <a:srgbClr val="F39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29768" y="4599432"/>
            <a:ext cx="34747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39717"/>
                </a:solidFill>
                <a:latin typeface="Aptos"/>
              </a:rPr>
              <a:t>Heuristic Engine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9768" y="4965192"/>
            <a:ext cx="347472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D0D8EA"/>
                </a:solidFill>
                <a:latin typeface="Aptos"/>
              </a:rPr>
              <a:t>Whitelist check → TLD scoring →
Brand spoof detection →
Urgency keyword regex scan.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233672" y="4526280"/>
            <a:ext cx="3657600" cy="160020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4233672" y="4526280"/>
            <a:ext cx="3657600" cy="50292"/>
          </a:xfrm>
          <a:prstGeom prst="rect">
            <a:avLst/>
          </a:prstGeom>
          <a:solidFill>
            <a:srgbClr val="BB86FC"/>
          </a:solidFill>
          <a:ln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343400" y="4599432"/>
            <a:ext cx="34747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BB86FC"/>
                </a:solidFill>
                <a:latin typeface="Aptos"/>
              </a:rPr>
              <a:t>Risk Analysis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343400" y="4965192"/>
            <a:ext cx="347472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D0D8EA"/>
                </a:solidFill>
                <a:latin typeface="Aptos"/>
              </a:rPr>
              <a:t>7-rule hybrid classifier (A–G).
Risk weight formula → score ≤ 10.0.
Band: None / Low / Medium / High.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147304" y="4526280"/>
            <a:ext cx="3657600" cy="160020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8147304" y="4526280"/>
            <a:ext cx="3657600" cy="50292"/>
          </a:xfrm>
          <a:prstGeom prst="rect">
            <a:avLst/>
          </a:prstGeom>
          <a:solidFill>
            <a:srgbClr val="80FFB8"/>
          </a:solidFill>
          <a:ln>
            <a:solidFill>
              <a:srgbClr val="80FF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8257032" y="4599432"/>
            <a:ext cx="34747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80FFB8"/>
                </a:solidFill>
                <a:latin typeface="Aptos"/>
              </a:rPr>
              <a:t>Visualization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57032" y="4965192"/>
            <a:ext cx="3474720" cy="10515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D0D8EA"/>
                </a:solidFill>
                <a:latin typeface="Aptos"/>
              </a:rPr>
              <a:t>High Risk → CSS pulsating border.
Popup dashboard: threat counters,
risk score, detection log.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8A98B8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A1F5C"/>
          </a:solidFill>
          <a:ln>
            <a:solidFill>
              <a:srgbClr val="0A1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0292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Data Flow Diagram (DFD)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0B4D8"/>
                </a:solidFill>
                <a:latin typeface="Aptos"/>
              </a:rPr>
              <a:t>Level 0 &amp; Level 1 — System Data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F5C"/>
          </a:solidFill>
          <a:ln>
            <a:solidFill>
              <a:srgbClr val="0A1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8A98B8"/>
                </a:solidFill>
                <a:latin typeface="Aptos"/>
              </a:rPr>
              <a:t>DESIGN TO DECEIVE  ·  NIT Srinagar  ·  Dept. of Information Technology and Engineering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5394960" cy="411480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71600"/>
            <a:ext cx="5394960" cy="54864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35608"/>
            <a:ext cx="50292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0B4D8"/>
                </a:solidFill>
                <a:latin typeface="Aptos"/>
              </a:rPr>
              <a:t>Level 0 DFD — Context Diagram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920240"/>
            <a:ext cx="1097280" cy="640080"/>
          </a:xfrm>
          <a:prstGeom prst="rect">
            <a:avLst/>
          </a:prstGeom>
          <a:solidFill>
            <a:srgbClr val="1E6BD6"/>
          </a:solidFill>
          <a:ln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993392"/>
            <a:ext cx="10972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User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00400"/>
            <a:ext cx="1097280" cy="640080"/>
          </a:xfrm>
          <a:prstGeom prst="rect">
            <a:avLst/>
          </a:prstGeom>
          <a:solidFill>
            <a:srgbClr val="1E6BD6"/>
          </a:solidFill>
          <a:ln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273552"/>
            <a:ext cx="10972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Browser
&amp; DOM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0" y="1920240"/>
            <a:ext cx="1097280" cy="640080"/>
          </a:xfrm>
          <a:prstGeom prst="rect">
            <a:avLst/>
          </a:prstGeom>
          <a:solidFill>
            <a:srgbClr val="1E6BD6"/>
          </a:solidFill>
          <a:ln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14800" y="1993392"/>
            <a:ext cx="10972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NLP
Backend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114800" y="3200400"/>
            <a:ext cx="1097280" cy="640080"/>
          </a:xfrm>
          <a:prstGeom prst="rect">
            <a:avLst/>
          </a:prstGeom>
          <a:solidFill>
            <a:srgbClr val="1E6BD6"/>
          </a:solidFill>
          <a:ln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0" y="3273552"/>
            <a:ext cx="109728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Threat
Visualizer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828800" y="2377440"/>
            <a:ext cx="1737360" cy="822960"/>
          </a:xfrm>
          <a:prstGeom prst="rect">
            <a:avLst/>
          </a:prstGeom>
          <a:solidFill>
            <a:srgbClr val="F5C518"/>
          </a:solidFill>
          <a:ln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828800" y="2423160"/>
            <a:ext cx="173736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05102E"/>
                </a:solidFill>
                <a:latin typeface="Aptos"/>
              </a:rPr>
              <a:t>DESIGN TO
DECEIVE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2176272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1">
                <a:solidFill>
                  <a:srgbClr val="8A98B8"/>
                </a:solidFill>
                <a:latin typeface="Aptos"/>
              </a:rPr>
              <a:t>URL + Browse Event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600200" y="3246120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1">
                <a:solidFill>
                  <a:srgbClr val="8A98B8"/>
                </a:solidFill>
                <a:latin typeface="Aptos"/>
              </a:rPr>
              <a:t>DOM Elements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584448" y="2176272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1">
                <a:solidFill>
                  <a:srgbClr val="8A98B8"/>
                </a:solidFill>
                <a:latin typeface="Aptos"/>
              </a:rPr>
              <a:t>Text Payload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84448" y="3246120"/>
            <a:ext cx="100584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800" b="0" i="1">
                <a:solidFill>
                  <a:srgbClr val="8A98B8"/>
                </a:solidFill>
                <a:latin typeface="Aptos"/>
              </a:rPr>
              <a:t>Risk Score + Highlights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989320" y="1371600"/>
            <a:ext cx="5852160" cy="411480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5989320" y="1371600"/>
            <a:ext cx="5852160" cy="54864"/>
          </a:xfrm>
          <a:prstGeom prst="rect">
            <a:avLst/>
          </a:prstGeom>
          <a:solidFill>
            <a:srgbClr val="1E6BD6"/>
          </a:solidFill>
          <a:ln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72200" y="1435608"/>
            <a:ext cx="548640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E6BD6"/>
                </a:solidFill>
                <a:latin typeface="Aptos"/>
              </a:rPr>
              <a:t>Level 1 DFD — Detailed Processes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035040" y="1828800"/>
            <a:ext cx="2743200" cy="713232"/>
          </a:xfrm>
          <a:prstGeom prst="rect">
            <a:avLst/>
          </a:prstGeom>
          <a:solidFill>
            <a:srgbClr val="05102E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035040" y="1828800"/>
            <a:ext cx="2743200" cy="41148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108192" y="1874520"/>
            <a:ext cx="2560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0B4D8"/>
                </a:solidFill>
                <a:latin typeface="Aptos"/>
              </a:rPr>
              <a:t>P1: DOM Extraction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08192" y="2194560"/>
            <a:ext cx="2560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8A98B8"/>
                </a:solidFill>
                <a:latin typeface="Aptos"/>
              </a:rPr>
              <a:t>Scan &amp; batch elements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869680" y="1828800"/>
            <a:ext cx="2743200" cy="713232"/>
          </a:xfrm>
          <a:prstGeom prst="rect">
            <a:avLst/>
          </a:prstGeom>
          <a:solidFill>
            <a:srgbClr val="05102E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869680" y="1828800"/>
            <a:ext cx="2743200" cy="41148"/>
          </a:xfrm>
          <a:prstGeom prst="rect">
            <a:avLst/>
          </a:prstGeom>
          <a:solidFill>
            <a:srgbClr val="1E6BD6"/>
          </a:solidFill>
          <a:ln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42832" y="1874520"/>
            <a:ext cx="2560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1E6BD6"/>
                </a:solidFill>
                <a:latin typeface="Aptos"/>
              </a:rPr>
              <a:t>P2: Message Routing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42832" y="2194560"/>
            <a:ext cx="2560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8A98B8"/>
                </a:solidFill>
                <a:latin typeface="Aptos"/>
              </a:rPr>
              <a:t>Chrome messaging API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035040" y="2633472"/>
            <a:ext cx="2743200" cy="713232"/>
          </a:xfrm>
          <a:prstGeom prst="rect">
            <a:avLst/>
          </a:prstGeom>
          <a:solidFill>
            <a:srgbClr val="05102E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035040" y="2633472"/>
            <a:ext cx="2743200" cy="41148"/>
          </a:xfrm>
          <a:prstGeom prst="rect">
            <a:avLst/>
          </a:prstGeom>
          <a:solidFill>
            <a:srgbClr val="F5C518"/>
          </a:solidFill>
          <a:ln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108192" y="2679192"/>
            <a:ext cx="2560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5C518"/>
                </a:solidFill>
                <a:latin typeface="Aptos"/>
              </a:rPr>
              <a:t>P3: HTTP Handling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08192" y="2999232"/>
            <a:ext cx="2560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8A98B8"/>
                </a:solidFill>
                <a:latin typeface="Aptos"/>
              </a:rPr>
              <a:t>FastAPI POST /analyze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869680" y="2633472"/>
            <a:ext cx="2743200" cy="713232"/>
          </a:xfrm>
          <a:prstGeom prst="rect">
            <a:avLst/>
          </a:prstGeom>
          <a:solidFill>
            <a:srgbClr val="05102E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8869680" y="2633472"/>
            <a:ext cx="2743200" cy="41148"/>
          </a:xfrm>
          <a:prstGeom prst="rect">
            <a:avLst/>
          </a:prstGeom>
          <a:solidFill>
            <a:srgbClr val="F39717"/>
          </a:solidFill>
          <a:ln>
            <a:solidFill>
              <a:srgbClr val="F39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942832" y="2679192"/>
            <a:ext cx="2560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39717"/>
                </a:solidFill>
                <a:latin typeface="Aptos"/>
              </a:rPr>
              <a:t>P4: Whitelist Check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942832" y="2999232"/>
            <a:ext cx="2560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8A98B8"/>
                </a:solidFill>
                <a:latin typeface="Aptos"/>
              </a:rPr>
              <a:t>Domain reputation eval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035040" y="3438144"/>
            <a:ext cx="2743200" cy="713232"/>
          </a:xfrm>
          <a:prstGeom prst="rect">
            <a:avLst/>
          </a:prstGeom>
          <a:solidFill>
            <a:srgbClr val="05102E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6035040" y="3438144"/>
            <a:ext cx="2743200" cy="41148"/>
          </a:xfrm>
          <a:prstGeom prst="rect">
            <a:avLst/>
          </a:prstGeom>
          <a:solidFill>
            <a:srgbClr val="FF8080"/>
          </a:solidFill>
          <a:ln>
            <a:solidFill>
              <a:srgbClr val="FF80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108192" y="3483864"/>
            <a:ext cx="2560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FF8080"/>
                </a:solidFill>
                <a:latin typeface="Aptos"/>
              </a:rPr>
              <a:t>P5: URL Heuristics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108192" y="3803904"/>
            <a:ext cx="2560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8A98B8"/>
                </a:solidFill>
                <a:latin typeface="Aptos"/>
              </a:rPr>
              <a:t>TLD / Brand spoof / IP</a:t>
            </a:r>
          </a:p>
        </p:txBody>
      </p:sp>
      <p:sp>
        <p:nvSpPr>
          <p:cNvPr id="48" name="Rectangle 47"/>
          <p:cNvSpPr/>
          <p:nvPr/>
        </p:nvSpPr>
        <p:spPr>
          <a:xfrm>
            <a:off x="8869680" y="3438144"/>
            <a:ext cx="2743200" cy="713232"/>
          </a:xfrm>
          <a:prstGeom prst="rect">
            <a:avLst/>
          </a:prstGeom>
          <a:solidFill>
            <a:srgbClr val="05102E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8869680" y="3438144"/>
            <a:ext cx="2743200" cy="41148"/>
          </a:xfrm>
          <a:prstGeom prst="rect">
            <a:avLst/>
          </a:prstGeom>
          <a:solidFill>
            <a:srgbClr val="BB86FC"/>
          </a:solidFill>
          <a:ln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942832" y="3483864"/>
            <a:ext cx="2560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BB86FC"/>
                </a:solidFill>
                <a:latin typeface="Aptos"/>
              </a:rPr>
              <a:t>P6: RoBERTa Inference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942832" y="3803904"/>
            <a:ext cx="2560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8A98B8"/>
                </a:solidFill>
                <a:latin typeface="Aptos"/>
              </a:rPr>
              <a:t>Tokenize → ML predict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4242816"/>
            <a:ext cx="2743200" cy="713232"/>
          </a:xfrm>
          <a:prstGeom prst="rect">
            <a:avLst/>
          </a:prstGeom>
          <a:solidFill>
            <a:srgbClr val="05102E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6035040" y="4242816"/>
            <a:ext cx="2743200" cy="41148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6108192" y="4288536"/>
            <a:ext cx="2560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27AE60"/>
                </a:solidFill>
                <a:latin typeface="Aptos"/>
              </a:rPr>
              <a:t>P7: Risk Normalization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108192" y="4608576"/>
            <a:ext cx="2560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8A98B8"/>
                </a:solidFill>
                <a:latin typeface="Aptos"/>
              </a:rPr>
              <a:t>7-Rule hybrid engine</a:t>
            </a:r>
          </a:p>
        </p:txBody>
      </p:sp>
      <p:sp>
        <p:nvSpPr>
          <p:cNvPr id="56" name="Rectangle 55"/>
          <p:cNvSpPr/>
          <p:nvPr/>
        </p:nvSpPr>
        <p:spPr>
          <a:xfrm>
            <a:off x="8869680" y="4242816"/>
            <a:ext cx="2743200" cy="713232"/>
          </a:xfrm>
          <a:prstGeom prst="rect">
            <a:avLst/>
          </a:prstGeom>
          <a:solidFill>
            <a:srgbClr val="05102E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8869680" y="4242816"/>
            <a:ext cx="2743200" cy="41148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8942832" y="4288536"/>
            <a:ext cx="256032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1" i="0">
                <a:solidFill>
                  <a:srgbClr val="00B4D8"/>
                </a:solidFill>
                <a:latin typeface="Aptos"/>
              </a:rPr>
              <a:t>P8: DOM Modification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942832" y="4608576"/>
            <a:ext cx="2560320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8A98B8"/>
                </a:solidFill>
                <a:latin typeface="Aptos"/>
              </a:rPr>
              <a:t>Inject highlights/tips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8A98B8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A1F5C"/>
          </a:solidFill>
          <a:ln>
            <a:solidFill>
              <a:srgbClr val="0A1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0292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Technology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0B4D8"/>
                </a:solidFill>
                <a:latin typeface="Aptos"/>
              </a:rPr>
              <a:t>Modern Full-Stack AI + Browser Extension Architecture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F5C"/>
          </a:solidFill>
          <a:ln>
            <a:solidFill>
              <a:srgbClr val="0A1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8A98B8"/>
                </a:solidFill>
                <a:latin typeface="Aptos"/>
              </a:rPr>
              <a:t>DESIGN TO DECEIVE  ·  NIT Srinagar  ·  Dept. of Information Technology and Engineering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2560320" cy="132588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417320"/>
            <a:ext cx="2560320" cy="50292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490472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i="0">
                <a:solidFill>
                  <a:srgbClr val="00B4D8"/>
                </a:solidFill>
                <a:latin typeface="Segoe UI Emoji"/>
              </a:rPr>
              <a:t>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1481328"/>
            <a:ext cx="19659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0B4D8"/>
                </a:solidFill>
                <a:latin typeface="Aptos"/>
              </a:rPr>
              <a:t>Chrome Extension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1892808"/>
            <a:ext cx="1965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8A98B8"/>
                </a:solidFill>
                <a:latin typeface="Aptos"/>
              </a:rPr>
              <a:t>Manifest V3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11480" y="2167128"/>
            <a:ext cx="2395728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D0D8EA"/>
                </a:solidFill>
                <a:latin typeface="Aptos"/>
              </a:rPr>
              <a:t>Service Workers, MutationObserver,
Declarative Net Request API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08960" y="1417320"/>
            <a:ext cx="2560320" cy="132588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108960" y="1417320"/>
            <a:ext cx="2560320" cy="50292"/>
          </a:xfrm>
          <a:prstGeom prst="rect">
            <a:avLst/>
          </a:prstGeom>
          <a:solidFill>
            <a:srgbClr val="1E6BD6"/>
          </a:solidFill>
          <a:ln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0" y="1490472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i="0">
                <a:solidFill>
                  <a:srgbClr val="1E6BD6"/>
                </a:solidFill>
                <a:latin typeface="Segoe UI Emoji"/>
              </a:rPr>
              <a:t>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11880" y="1481328"/>
            <a:ext cx="19659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1E6BD6"/>
                </a:solidFill>
                <a:latin typeface="Aptos"/>
              </a:rPr>
              <a:t>FastAPI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11880" y="1892808"/>
            <a:ext cx="1965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8A98B8"/>
                </a:solidFill>
                <a:latin typeface="Aptos"/>
              </a:rPr>
              <a:t>v0.100+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0" y="2167128"/>
            <a:ext cx="2395728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D0D8EA"/>
                </a:solidFill>
                <a:latin typeface="Aptos"/>
              </a:rPr>
              <a:t>Async architecture, Pydantic schemas,
OpenAPI auto-docs, Starlette/Uvicorn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897880" y="1417320"/>
            <a:ext cx="2560320" cy="132588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897880" y="1417320"/>
            <a:ext cx="2560320" cy="50292"/>
          </a:xfrm>
          <a:prstGeom prst="rect">
            <a:avLst/>
          </a:prstGeom>
          <a:solidFill>
            <a:srgbClr val="F5C518"/>
          </a:solidFill>
          <a:ln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89320" y="1490472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i="0">
                <a:solidFill>
                  <a:srgbClr val="F5C518"/>
                </a:solidFill>
                <a:latin typeface="Segoe UI Emoji"/>
              </a:rPr>
              <a:t>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1481328"/>
            <a:ext cx="19659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5C518"/>
                </a:solidFill>
                <a:latin typeface="Aptos"/>
              </a:rPr>
              <a:t>Python 3.10+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1892808"/>
            <a:ext cx="1965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8A98B8"/>
                </a:solidFill>
                <a:latin typeface="Aptos"/>
              </a:rPr>
              <a:t>Backend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89320" y="2167128"/>
            <a:ext cx="2395728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D0D8EA"/>
                </a:solidFill>
                <a:latin typeface="Aptos"/>
              </a:rPr>
              <a:t>urllib.parse, regex, asyncio,
json, Pydantic, standard library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686800" y="1417320"/>
            <a:ext cx="2560320" cy="132588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686800" y="1417320"/>
            <a:ext cx="2560320" cy="50292"/>
          </a:xfrm>
          <a:prstGeom prst="rect">
            <a:avLst/>
          </a:prstGeom>
          <a:solidFill>
            <a:srgbClr val="F39717"/>
          </a:solidFill>
          <a:ln>
            <a:solidFill>
              <a:srgbClr val="F39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78240" y="1490472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i="0">
                <a:solidFill>
                  <a:srgbClr val="F39717"/>
                </a:solidFill>
                <a:latin typeface="Segoe UI Emoji"/>
              </a:rPr>
              <a:t>🔥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89720" y="1481328"/>
            <a:ext cx="19659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39717"/>
                </a:solidFill>
                <a:latin typeface="Aptos"/>
              </a:rPr>
              <a:t>PyTorch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9720" y="1892808"/>
            <a:ext cx="1965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8A98B8"/>
                </a:solidFill>
                <a:latin typeface="Aptos"/>
              </a:rPr>
              <a:t>v2.0+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778240" y="2167128"/>
            <a:ext cx="2395728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D0D8EA"/>
                </a:solidFill>
                <a:latin typeface="Aptos"/>
              </a:rPr>
              <a:t>Tensor computation, model inference,
Thread pool executor for async ML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2907792"/>
            <a:ext cx="2560320" cy="132588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320040" y="2907792"/>
            <a:ext cx="2560320" cy="50292"/>
          </a:xfrm>
          <a:prstGeom prst="rect">
            <a:avLst/>
          </a:prstGeom>
          <a:solidFill>
            <a:srgbClr val="FFD700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11480" y="2980944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i="0">
                <a:solidFill>
                  <a:srgbClr val="FFD700"/>
                </a:solidFill>
                <a:latin typeface="Segoe UI Emoji"/>
              </a:rPr>
              <a:t>🤗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" y="2971800"/>
            <a:ext cx="19659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D700"/>
                </a:solidFill>
                <a:latin typeface="Aptos"/>
              </a:rPr>
              <a:t>HuggingFace
Transformers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" y="3383280"/>
            <a:ext cx="1965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8A98B8"/>
                </a:solidFill>
                <a:latin typeface="Aptos"/>
              </a:rPr>
              <a:t>v4.30+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11480" y="3657600"/>
            <a:ext cx="2395728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D0D8EA"/>
                </a:solidFill>
                <a:latin typeface="Aptos"/>
              </a:rPr>
              <a:t>RoBERTa tokenizer &amp; model loading,
Pipeline API, AutoModelForSeqCls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08960" y="2907792"/>
            <a:ext cx="2560320" cy="132588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108960" y="2907792"/>
            <a:ext cx="2560320" cy="50292"/>
          </a:xfrm>
          <a:prstGeom prst="rect">
            <a:avLst/>
          </a:prstGeom>
          <a:solidFill>
            <a:srgbClr val="BB86FC"/>
          </a:solidFill>
          <a:ln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0" y="2980944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i="0">
                <a:solidFill>
                  <a:srgbClr val="BB86FC"/>
                </a:solidFill>
                <a:latin typeface="Segoe UI Emoji"/>
              </a:rPr>
              <a:t>🧠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611880" y="2971800"/>
            <a:ext cx="19659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BB86FC"/>
                </a:solidFill>
                <a:latin typeface="Aptos"/>
              </a:rPr>
              <a:t>RoBERTa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611880" y="3383280"/>
            <a:ext cx="1965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8A98B8"/>
                </a:solidFill>
                <a:latin typeface="Aptos"/>
              </a:rPr>
              <a:t>roberta-base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200400" y="3657600"/>
            <a:ext cx="2395728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D0D8EA"/>
                </a:solidFill>
                <a:latin typeface="Aptos"/>
              </a:rPr>
              <a:t>Fine-tuned NLP: dark pattern model
&amp; phishing classification model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897880" y="2907792"/>
            <a:ext cx="2560320" cy="132588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5897880" y="2907792"/>
            <a:ext cx="2560320" cy="50292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989320" y="2980944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i="0">
                <a:solidFill>
                  <a:srgbClr val="27AE60"/>
                </a:solidFill>
                <a:latin typeface="Segoe UI Emoji"/>
              </a:rPr>
              <a:t>📝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2971800"/>
            <a:ext cx="19659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27AE60"/>
                </a:solidFill>
                <a:latin typeface="Aptos"/>
              </a:rPr>
              <a:t>JavaScript ES6+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00800" y="3383280"/>
            <a:ext cx="1965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8A98B8"/>
                </a:solidFill>
                <a:latin typeface="Aptos"/>
              </a:rPr>
              <a:t>Frontend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989320" y="3657600"/>
            <a:ext cx="2395728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D0D8EA"/>
                </a:solidFill>
                <a:latin typeface="Aptos"/>
              </a:rPr>
              <a:t>DOM API, Chrome Messaging API,
Chrome Storage API, async/await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686800" y="2907792"/>
            <a:ext cx="2560320" cy="132588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686800" y="2907792"/>
            <a:ext cx="2560320" cy="50292"/>
          </a:xfrm>
          <a:prstGeom prst="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778240" y="2980944"/>
            <a:ext cx="457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800" b="0" i="0">
                <a:solidFill>
                  <a:srgbClr val="E74C3C"/>
                </a:solidFill>
                <a:latin typeface="Segoe UI Emoji"/>
              </a:rPr>
              <a:t>🔒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189720" y="2971800"/>
            <a:ext cx="1965960" cy="43891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E74C3C"/>
                </a:solidFill>
                <a:latin typeface="Aptos"/>
              </a:rPr>
              <a:t>CORS + Whitelist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89720" y="3383280"/>
            <a:ext cx="19659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8A98B8"/>
                </a:solidFill>
                <a:latin typeface="Aptos"/>
              </a:rPr>
              <a:t>Security Layer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778240" y="3657600"/>
            <a:ext cx="2395728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50" b="0" i="0">
                <a:solidFill>
                  <a:srgbClr val="D0D8EA"/>
                </a:solidFill>
                <a:latin typeface="Aptos"/>
              </a:rPr>
              <a:t>Cross-origin isolation, trusted domain
registry, sensitivity tuning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8A98B8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A1F5C"/>
          </a:solidFill>
          <a:ln>
            <a:solidFill>
              <a:srgbClr val="0A1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0292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Detection Algorithms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0B4D8"/>
                </a:solidFill>
                <a:latin typeface="Aptos"/>
              </a:rPr>
              <a:t>Hybrid Rule Engine — 7 Classification Rules (A–G)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F5C"/>
          </a:solidFill>
          <a:ln>
            <a:solidFill>
              <a:srgbClr val="0A1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8A98B8"/>
                </a:solidFill>
                <a:latin typeface="Aptos"/>
              </a:rPr>
              <a:t>DESIGN TO DECEIVE  ·  NIT Srinagar  ·  Dept. of Information Technology and Engineering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6858000" cy="64008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71600"/>
            <a:ext cx="594360" cy="640080"/>
          </a:xfrm>
          <a:prstGeom prst="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" y="1517904"/>
            <a:ext cx="594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Rule 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" y="1426464"/>
            <a:ext cx="2011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E74C3C"/>
                </a:solidFill>
                <a:latin typeface="Aptos"/>
              </a:rPr>
              <a:t>Brand Spoofing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1426464"/>
            <a:ext cx="416052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D0D8EA"/>
                </a:solidFill>
                <a:latin typeface="Aptos"/>
              </a:rPr>
              <a:t>Domain spoof detected + ML conf ≥ 0.80 → HIGH RISK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2075688"/>
            <a:ext cx="6858000" cy="64008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2075688"/>
            <a:ext cx="594360" cy="640080"/>
          </a:xfrm>
          <a:prstGeom prst="rect">
            <a:avLst/>
          </a:prstGeom>
          <a:solidFill>
            <a:srgbClr val="F39717"/>
          </a:solidFill>
          <a:ln>
            <a:solidFill>
              <a:srgbClr val="F39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221992"/>
            <a:ext cx="594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Rule 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87552" y="2130552"/>
            <a:ext cx="2011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39717"/>
                </a:solidFill>
                <a:latin typeface="Aptos"/>
              </a:rPr>
              <a:t>Suspicious Domain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26080" y="2130552"/>
            <a:ext cx="416052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D0D8EA"/>
                </a:solidFill>
                <a:latin typeface="Aptos"/>
              </a:rPr>
              <a:t>Bad TLD/hyphens/IP + ML ≥ 0.85 + urgency/creds → HIGH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779776"/>
            <a:ext cx="6858000" cy="64008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779776"/>
            <a:ext cx="594360" cy="640080"/>
          </a:xfrm>
          <a:prstGeom prst="rect">
            <a:avLst/>
          </a:prstGeom>
          <a:solidFill>
            <a:srgbClr val="F5C518"/>
          </a:solidFill>
          <a:ln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" y="2926080"/>
            <a:ext cx="594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Rule 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" y="2834640"/>
            <a:ext cx="2011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F5C518"/>
                </a:solidFill>
                <a:latin typeface="Aptos"/>
              </a:rPr>
              <a:t>Urgency + Credentials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2834640"/>
            <a:ext cx="416052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D0D8EA"/>
                </a:solidFill>
                <a:latin typeface="Aptos"/>
              </a:rPr>
              <a:t>Urgency text + credential keywords + ML ≥ 0.88 → HIGH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483864"/>
            <a:ext cx="6858000" cy="64008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483864"/>
            <a:ext cx="594360" cy="640080"/>
          </a:xfrm>
          <a:prstGeom prst="rect">
            <a:avLst/>
          </a:prstGeom>
          <a:solidFill>
            <a:srgbClr val="1E6BD6"/>
          </a:solidFill>
          <a:ln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3630168"/>
            <a:ext cx="594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Rule 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87552" y="3538728"/>
            <a:ext cx="2011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1E6BD6"/>
                </a:solidFill>
                <a:latin typeface="Aptos"/>
              </a:rPr>
              <a:t>Direct ML Match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926080" y="3538728"/>
            <a:ext cx="416052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D0D8EA"/>
                </a:solidFill>
                <a:latin typeface="Aptos"/>
              </a:rPr>
              <a:t>ML confidence ≥ 0.95 on untrusted domain → HIGH RISK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187952"/>
            <a:ext cx="6858000" cy="64008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187952"/>
            <a:ext cx="594360" cy="640080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4334256"/>
            <a:ext cx="594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Rule 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87552" y="4242816"/>
            <a:ext cx="2011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00B4D8"/>
                </a:solidFill>
                <a:latin typeface="Aptos"/>
              </a:rPr>
              <a:t>Medium Risk Log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6080" y="4242816"/>
            <a:ext cx="416052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D0D8EA"/>
                </a:solidFill>
                <a:latin typeface="Aptos"/>
              </a:rPr>
              <a:t>ML ≥ 0.80 (no heuristic support) → MEDIUM (logged only)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20040" y="4892040"/>
            <a:ext cx="6858000" cy="64008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320040" y="4892040"/>
            <a:ext cx="594360" cy="64008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20040" y="5038344"/>
            <a:ext cx="594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Rule F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87552" y="4946904"/>
            <a:ext cx="2011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27AE60"/>
                </a:solidFill>
                <a:latin typeface="Aptos"/>
              </a:rPr>
              <a:t>Low Risk Flag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2926080" y="4946904"/>
            <a:ext cx="416052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D0D8EA"/>
                </a:solidFill>
                <a:latin typeface="Aptos"/>
              </a:rPr>
              <a:t>ML confidence ≥ 0.50 → LOW RISK (cached, not shown)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5596128"/>
            <a:ext cx="6858000" cy="64008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320040" y="5596128"/>
            <a:ext cx="594360" cy="640080"/>
          </a:xfrm>
          <a:prstGeom prst="rect">
            <a:avLst/>
          </a:prstGeom>
          <a:solidFill>
            <a:srgbClr val="BB86FC"/>
          </a:solidFill>
          <a:ln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20040" y="5742432"/>
            <a:ext cx="59436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00" b="1" i="0">
                <a:solidFill>
                  <a:srgbClr val="FFFFFF"/>
                </a:solidFill>
                <a:latin typeface="Aptos"/>
              </a:rPr>
              <a:t>Rule 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7552" y="5650992"/>
            <a:ext cx="201168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BB86FC"/>
                </a:solidFill>
                <a:latin typeface="Aptos"/>
              </a:rPr>
              <a:t>Dark Pattern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926080" y="5650992"/>
            <a:ext cx="4160520" cy="53035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050" b="0" i="0">
                <a:solidFill>
                  <a:srgbClr val="D0D8EA"/>
                </a:solidFill>
                <a:latin typeface="Aptos"/>
              </a:rPr>
              <a:t>Pass all heuristic gates + ML pred = class 1 + conf ≥ 0.995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52360" y="1371600"/>
            <a:ext cx="4389120" cy="489204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7452360" y="1371600"/>
            <a:ext cx="4389120" cy="54864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635240" y="1435608"/>
            <a:ext cx="402336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00B4D8"/>
                </a:solidFill>
                <a:latin typeface="Aptos"/>
              </a:rPr>
              <a:t>Heuristic Gating Pipeline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635240" y="1828800"/>
            <a:ext cx="4023360" cy="4114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500"/>
              </a:spcBef>
            </a:pPr>
            <a:r>
              <a:rPr sz="1100" b="0">
                <a:solidFill>
                  <a:srgbClr val="D0D8EA"/>
                </a:solidFill>
                <a:latin typeface="Aptos"/>
              </a:rPr>
              <a:t>① Short text filter (&lt; 4 chars → skip)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D0D8EA"/>
                </a:solidFill>
                <a:latin typeface="Aptos"/>
              </a:rPr>
              <a:t>② Safe UI keyword match
   (followers, stars, settings → skip)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D0D8EA"/>
                </a:solidFill>
                <a:latin typeface="Aptos"/>
              </a:rPr>
              <a:t>③ Structural tag exclusion
   (&lt;nav&gt;, &lt;header&gt;, &lt;footer&gt; → skip)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D0D8EA"/>
                </a:solidFill>
                <a:latin typeface="Aptos"/>
              </a:rPr>
              <a:t>④ Counter/metric regex filter
   (12 Repos, 1.2k followers → skip)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D0D8EA"/>
                </a:solidFill>
                <a:latin typeface="Aptos"/>
              </a:rPr>
              <a:t>⑤ Manipulative indicator gate
   (hurry, limited, last chance → run ML)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D0D8EA"/>
                </a:solidFill>
                <a:latin typeface="Aptos"/>
              </a:rPr>
              <a:t>⑥ Trusted domain whitelist
   (threshold = 0.999 on whitelisted sites)</a:t>
            </a:r>
          </a:p>
          <a:p>
            <a:pPr algn="l">
              <a:spcBef>
                <a:spcPts val="500"/>
              </a:spcBef>
            </a:pPr>
            <a:r>
              <a:rPr sz="1100" b="0">
                <a:solidFill>
                  <a:srgbClr val="D0D8EA"/>
                </a:solidFill>
                <a:latin typeface="Aptos"/>
              </a:rPr>
              <a:t>⑦ URL reputation scan
   (TLD, hyphens, IP, brand spoof)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8A98B8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A1F5C"/>
          </a:solidFill>
          <a:ln>
            <a:solidFill>
              <a:srgbClr val="0A1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0292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False Positive Reduction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0B4D8"/>
                </a:solidFill>
                <a:latin typeface="Aptos"/>
              </a:rPr>
              <a:t>Context-Aware Whitelisting &amp; Heuristic Gating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F5C"/>
          </a:solidFill>
          <a:ln>
            <a:solidFill>
              <a:srgbClr val="0A1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8A98B8"/>
                </a:solidFill>
                <a:latin typeface="Aptos"/>
              </a:rPr>
              <a:t>DESIGN TO DECEIVE  ·  NIT Srinagar  ·  Dept. of Information Technology and Engineering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11521440" cy="502920"/>
          </a:xfrm>
          <a:prstGeom prst="rect">
            <a:avLst/>
          </a:prstGeom>
          <a:solidFill>
            <a:srgbClr val="1E6BD6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1435608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Website / Context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435608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Element 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1435608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Baseline System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80" y="1435608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Proposed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04120" y="1435608"/>
            <a:ext cx="1188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20040" y="1965960"/>
            <a:ext cx="11521440" cy="54864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" y="2057400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1" i="0">
                <a:solidFill>
                  <a:srgbClr val="00B4D8"/>
                </a:solidFill>
                <a:latin typeface="Aptos"/>
              </a:rPr>
              <a:t>GitHub Login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05740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D0D8EA"/>
                </a:solidFill>
                <a:latin typeface="Aptos"/>
              </a:rPr>
              <a:t>"Password. Forgot password?"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6440" y="2057400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E74C3C"/>
                </a:solidFill>
                <a:latin typeface="Aptos"/>
              </a:rPr>
              <a:t>⛔ Alert: Phishing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955280" y="2057400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27AE60"/>
                </a:solidFill>
                <a:latin typeface="Aptos"/>
              </a:rPr>
              <a:t>✅ Safe — No Alert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04120" y="2057400"/>
            <a:ext cx="1188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F5C518"/>
                </a:solidFill>
                <a:latin typeface="Aptos"/>
              </a:rPr>
              <a:t>PASS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2551176"/>
            <a:ext cx="11521440" cy="548640"/>
          </a:xfrm>
          <a:prstGeom prst="rect">
            <a:avLst/>
          </a:prstGeom>
          <a:solidFill>
            <a:srgbClr val="05102E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2642616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1" i="0">
                <a:solidFill>
                  <a:srgbClr val="00B4D8"/>
                </a:solidFill>
                <a:latin typeface="Aptos"/>
              </a:rPr>
              <a:t>Google Sign-In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2642616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D0D8EA"/>
                </a:solidFill>
                <a:latin typeface="Aptos"/>
              </a:rPr>
              <a:t>"Enter your email or password."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06440" y="2642616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E74C3C"/>
                </a:solidFill>
                <a:latin typeface="Aptos"/>
              </a:rPr>
              <a:t>⛔ Alert: Phishing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55280" y="2642616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27AE60"/>
                </a:solidFill>
                <a:latin typeface="Aptos"/>
              </a:rPr>
              <a:t>✅ Safe — No Alert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04120" y="2642616"/>
            <a:ext cx="1188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F5C518"/>
                </a:solidFill>
                <a:latin typeface="Aptos"/>
              </a:rPr>
              <a:t>PASS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136392"/>
            <a:ext cx="11521440" cy="54864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3227832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1" i="0">
                <a:solidFill>
                  <a:srgbClr val="00B4D8"/>
                </a:solidFill>
                <a:latin typeface="Aptos"/>
              </a:rPr>
              <a:t>PayPal Official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3227832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D0D8EA"/>
                </a:solidFill>
                <a:latin typeface="Aptos"/>
              </a:rPr>
              <a:t>"Log In to your PayPal account"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806440" y="3227832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E74C3C"/>
                </a:solidFill>
                <a:latin typeface="Aptos"/>
              </a:rPr>
              <a:t>⛔ Alert: Phishing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955280" y="3227832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27AE60"/>
                </a:solidFill>
                <a:latin typeface="Aptos"/>
              </a:rPr>
              <a:t>✅ Safe — No Alert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04120" y="3227832"/>
            <a:ext cx="1188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F5C518"/>
                </a:solidFill>
                <a:latin typeface="Aptos"/>
              </a:rPr>
              <a:t>PASS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20040" y="3721608"/>
            <a:ext cx="11521440" cy="548640"/>
          </a:xfrm>
          <a:prstGeom prst="rect">
            <a:avLst/>
          </a:prstGeom>
          <a:solidFill>
            <a:srgbClr val="05102E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0040" y="3813048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1" i="0">
                <a:solidFill>
                  <a:srgbClr val="00B4D8"/>
                </a:solidFill>
                <a:latin typeface="Aptos"/>
              </a:rPr>
              <a:t>Microsoft Auth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3813048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D0D8EA"/>
                </a:solidFill>
                <a:latin typeface="Aptos"/>
              </a:rPr>
              <a:t>"Sign in. Credentials required."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806440" y="3813048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E74C3C"/>
                </a:solidFill>
                <a:latin typeface="Aptos"/>
              </a:rPr>
              <a:t>⛔ Alert: Phishing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955280" y="3813048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27AE60"/>
                </a:solidFill>
                <a:latin typeface="Aptos"/>
              </a:rPr>
              <a:t>✅ Safe — No Alert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104120" y="3813048"/>
            <a:ext cx="1188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F5C518"/>
                </a:solidFill>
                <a:latin typeface="Aptos"/>
              </a:rPr>
              <a:t>PASS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4306824"/>
            <a:ext cx="11521440" cy="54864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0040" y="4398264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1" i="0">
                <a:solidFill>
                  <a:srgbClr val="00B4D8"/>
                </a:solidFill>
                <a:latin typeface="Aptos"/>
              </a:rPr>
              <a:t>GitHub Navigation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60320" y="4398264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D0D8EA"/>
                </a:solidFill>
                <a:latin typeface="Aptos"/>
              </a:rPr>
              <a:t>"Repositories", "Followers"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806440" y="4398264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E74C3C"/>
                </a:solidFill>
                <a:latin typeface="Aptos"/>
              </a:rPr>
              <a:t>⛔ Alert: Dark Pattern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955280" y="4398264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27AE60"/>
                </a:solidFill>
                <a:latin typeface="Aptos"/>
              </a:rPr>
              <a:t>✅ Safe — No Alert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104120" y="4398264"/>
            <a:ext cx="1188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F5C518"/>
                </a:solidFill>
                <a:latin typeface="Aptos"/>
              </a:rPr>
              <a:t>PASS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20040" y="4892040"/>
            <a:ext cx="11521440" cy="548640"/>
          </a:xfrm>
          <a:prstGeom prst="rect">
            <a:avLst/>
          </a:prstGeom>
          <a:solidFill>
            <a:srgbClr val="05102E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20040" y="4983480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1" i="0">
                <a:solidFill>
                  <a:srgbClr val="00B4D8"/>
                </a:solidFill>
                <a:latin typeface="Aptos"/>
              </a:rPr>
              <a:t>GitHub Header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60320" y="4983480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D0D8EA"/>
                </a:solidFill>
                <a:latin typeface="Aptos"/>
              </a:rPr>
              <a:t>"Overview", "Projects", "Packages"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806440" y="4983480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E74C3C"/>
                </a:solidFill>
                <a:latin typeface="Aptos"/>
              </a:rPr>
              <a:t>⛔ Alert: Dark Pattern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955280" y="4983480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27AE60"/>
                </a:solidFill>
                <a:latin typeface="Aptos"/>
              </a:rPr>
              <a:t>✅ Safe — No Alert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04120" y="4983480"/>
            <a:ext cx="1188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F5C518"/>
                </a:solidFill>
                <a:latin typeface="Aptos"/>
              </a:rPr>
              <a:t>PASS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20040" y="5477256"/>
            <a:ext cx="11521440" cy="54864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20040" y="5568696"/>
            <a:ext cx="21945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1" i="0">
                <a:solidFill>
                  <a:srgbClr val="00B4D8"/>
                </a:solidFill>
                <a:latin typeface="Aptos"/>
              </a:rPr>
              <a:t>GitHub Stats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60320" y="5568696"/>
            <a:ext cx="32004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D0D8EA"/>
                </a:solidFill>
                <a:latin typeface="Aptos"/>
              </a:rPr>
              <a:t>"12 Repositories", "1.2k followers"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806440" y="5568696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E74C3C"/>
                </a:solidFill>
                <a:latin typeface="Aptos"/>
              </a:rPr>
              <a:t>⛔ Alert: Dark Pattern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955280" y="5568696"/>
            <a:ext cx="21031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27AE60"/>
                </a:solidFill>
                <a:latin typeface="Aptos"/>
              </a:rPr>
              <a:t>✅ Safe — No Alert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104120" y="5568696"/>
            <a:ext cx="11887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F5C518"/>
                </a:solidFill>
                <a:latin typeface="Aptos"/>
              </a:rPr>
              <a:t>PASS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20040" y="6035040"/>
            <a:ext cx="11521440" cy="320040"/>
          </a:xfrm>
          <a:prstGeom prst="rect">
            <a:avLst/>
          </a:prstGeom>
          <a:solidFill>
            <a:srgbClr val="0D2A6B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20040" y="6035040"/>
            <a:ext cx="11521440" cy="4572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02920" y="6080760"/>
            <a:ext cx="1115568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200" b="1" i="0">
                <a:solidFill>
                  <a:srgbClr val="27AE60"/>
                </a:solidFill>
                <a:latin typeface="Aptos"/>
              </a:rPr>
              <a:t>✅  Result: 100% false positive elimination on trusted platforms — Phishing Precision improved from 0.92 → 0.99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8A98B8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A1F5C"/>
          </a:solidFill>
          <a:ln>
            <a:solidFill>
              <a:srgbClr val="0A1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0292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Results &amp; Performance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0B4D8"/>
                </a:solidFill>
                <a:latin typeface="Aptos"/>
              </a:rPr>
              <a:t>Experimental Evaluation on 50 Active Webpages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F5C"/>
          </a:solidFill>
          <a:ln>
            <a:solidFill>
              <a:srgbClr val="0A1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8A98B8"/>
                </a:solidFill>
                <a:latin typeface="Aptos"/>
              </a:rPr>
              <a:t>DESIGN TO DECEIVE  ·  NIT Srinagar  ·  Dept. of Information Technology and Engineering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5577840" cy="416052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71600"/>
            <a:ext cx="5577840" cy="59436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1435608"/>
            <a:ext cx="52120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0B4D8"/>
                </a:solidFill>
                <a:latin typeface="Aptos"/>
              </a:rPr>
              <a:t>Classification Performance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" y="1901952"/>
            <a:ext cx="5577840" cy="384048"/>
          </a:xfrm>
          <a:prstGeom prst="rect">
            <a:avLst/>
          </a:prstGeom>
          <a:solidFill>
            <a:srgbClr val="1E6BD6"/>
          </a:solidFill>
          <a:ln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11480" y="1920240"/>
            <a:ext cx="22860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Category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43200" y="1920240"/>
            <a:ext cx="9144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Precision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1920240"/>
            <a:ext cx="9144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Recall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1920240"/>
            <a:ext cx="914400" cy="329184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1" i="0">
                <a:solidFill>
                  <a:srgbClr val="FFFFFF"/>
                </a:solidFill>
                <a:latin typeface="Aptos"/>
              </a:rPr>
              <a:t>F1-Score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331720"/>
            <a:ext cx="5577840" cy="45720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" y="2386584"/>
            <a:ext cx="2286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D0D8EA"/>
                </a:solidFill>
                <a:latin typeface="Aptos"/>
              </a:rPr>
              <a:t>Phishing Indicator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0" y="2386584"/>
            <a:ext cx="914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50" b="1" i="0">
                <a:solidFill>
                  <a:srgbClr val="27AE60"/>
                </a:solidFill>
                <a:latin typeface="Aptos"/>
              </a:rPr>
              <a:t>0.99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03320" y="2386584"/>
            <a:ext cx="914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50" b="1" i="0">
                <a:solidFill>
                  <a:srgbClr val="F5C518"/>
                </a:solidFill>
                <a:latin typeface="Aptos"/>
              </a:rPr>
              <a:t>0.89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386584"/>
            <a:ext cx="914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50" b="1" i="0">
                <a:solidFill>
                  <a:srgbClr val="27AE60"/>
                </a:solidFill>
                <a:latin typeface="Aptos"/>
              </a:rPr>
              <a:t>0.94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" y="2834640"/>
            <a:ext cx="5577840" cy="457200"/>
          </a:xfrm>
          <a:prstGeom prst="rect">
            <a:avLst/>
          </a:prstGeom>
          <a:solidFill>
            <a:srgbClr val="05102E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11480" y="2889504"/>
            <a:ext cx="2286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D0D8EA"/>
                </a:solidFill>
                <a:latin typeface="Aptos"/>
              </a:rPr>
              <a:t>Urgency / Scarcity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2889504"/>
            <a:ext cx="914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50" b="1" i="0">
                <a:solidFill>
                  <a:srgbClr val="F5C518"/>
                </a:solidFill>
                <a:latin typeface="Aptos"/>
              </a:rPr>
              <a:t>0.88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703320" y="2889504"/>
            <a:ext cx="914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50" b="1" i="0">
                <a:solidFill>
                  <a:srgbClr val="F5C518"/>
                </a:solidFill>
                <a:latin typeface="Aptos"/>
              </a:rPr>
              <a:t>0.85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2889504"/>
            <a:ext cx="914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50" b="1" i="0">
                <a:solidFill>
                  <a:srgbClr val="F5C518"/>
                </a:solidFill>
                <a:latin typeface="Aptos"/>
              </a:rPr>
              <a:t>0.86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3337560"/>
            <a:ext cx="5577840" cy="45720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" y="3392424"/>
            <a:ext cx="2286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D0D8EA"/>
                </a:solidFill>
                <a:latin typeface="Aptos"/>
              </a:rPr>
              <a:t>Confirmshaming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0" y="3392424"/>
            <a:ext cx="914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50" b="1" i="0">
                <a:solidFill>
                  <a:srgbClr val="F5C518"/>
                </a:solidFill>
                <a:latin typeface="Aptos"/>
              </a:rPr>
              <a:t>0.86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703320" y="3392424"/>
            <a:ext cx="914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50" b="1" i="0">
                <a:solidFill>
                  <a:srgbClr val="F5C518"/>
                </a:solidFill>
                <a:latin typeface="Aptos"/>
              </a:rPr>
              <a:t>0.82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3392424"/>
            <a:ext cx="914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50" b="1" i="0">
                <a:solidFill>
                  <a:srgbClr val="F5C518"/>
                </a:solidFill>
                <a:latin typeface="Aptos"/>
              </a:rPr>
              <a:t>0.84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20040" y="3840480"/>
            <a:ext cx="5577840" cy="457200"/>
          </a:xfrm>
          <a:prstGeom prst="rect">
            <a:avLst/>
          </a:prstGeom>
          <a:solidFill>
            <a:srgbClr val="05102E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11480" y="3895344"/>
            <a:ext cx="2286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D0D8EA"/>
                </a:solidFill>
                <a:latin typeface="Aptos"/>
              </a:rPr>
              <a:t>Benign Text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3895344"/>
            <a:ext cx="914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50" b="1" i="0">
                <a:solidFill>
                  <a:srgbClr val="27AE60"/>
                </a:solidFill>
                <a:latin typeface="Aptos"/>
              </a:rPr>
              <a:t>0.99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703320" y="3895344"/>
            <a:ext cx="914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50" b="1" i="0">
                <a:solidFill>
                  <a:srgbClr val="27AE60"/>
                </a:solidFill>
                <a:latin typeface="Aptos"/>
              </a:rPr>
              <a:t>0.96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3895344"/>
            <a:ext cx="914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50" b="1" i="0">
                <a:solidFill>
                  <a:srgbClr val="27AE60"/>
                </a:solidFill>
                <a:latin typeface="Aptos"/>
              </a:rPr>
              <a:t>0.97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20040" y="4343400"/>
            <a:ext cx="5577840" cy="45720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11480" y="4398264"/>
            <a:ext cx="2286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D0D8EA"/>
                </a:solidFill>
                <a:latin typeface="Aptos"/>
              </a:rPr>
              <a:t>Dark Pattern Model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743200" y="4398264"/>
            <a:ext cx="914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50" b="1" i="0">
                <a:solidFill>
                  <a:srgbClr val="27AE60"/>
                </a:solidFill>
                <a:latin typeface="Aptos"/>
              </a:rPr>
              <a:t>0.9333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703320" y="4398264"/>
            <a:ext cx="914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50" b="1" i="0">
                <a:solidFill>
                  <a:srgbClr val="27AE60"/>
                </a:solidFill>
                <a:latin typeface="Aptos"/>
              </a:rPr>
              <a:t>0.9333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663440" y="4398264"/>
            <a:ext cx="914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50" b="1" i="0">
                <a:solidFill>
                  <a:srgbClr val="27AE60"/>
                </a:solidFill>
                <a:latin typeface="Aptos"/>
              </a:rPr>
              <a:t>0.9333</a:t>
            </a:r>
          </a:p>
        </p:txBody>
      </p:sp>
      <p:sp>
        <p:nvSpPr>
          <p:cNvPr id="41" name="Rectangle 40"/>
          <p:cNvSpPr/>
          <p:nvPr/>
        </p:nvSpPr>
        <p:spPr>
          <a:xfrm>
            <a:off x="320040" y="4846320"/>
            <a:ext cx="5577840" cy="457200"/>
          </a:xfrm>
          <a:prstGeom prst="rect">
            <a:avLst/>
          </a:prstGeom>
          <a:solidFill>
            <a:srgbClr val="05102E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11480" y="4901184"/>
            <a:ext cx="22860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00" b="0" i="0">
                <a:solidFill>
                  <a:srgbClr val="D0D8EA"/>
                </a:solidFill>
                <a:latin typeface="Aptos"/>
              </a:rPr>
              <a:t>Phishing Model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0" y="4901184"/>
            <a:ext cx="914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50" b="1" i="0">
                <a:solidFill>
                  <a:srgbClr val="27AE60"/>
                </a:solidFill>
                <a:latin typeface="Aptos"/>
              </a:rPr>
              <a:t>0.9286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703320" y="4901184"/>
            <a:ext cx="914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50" b="1" i="0">
                <a:solidFill>
                  <a:srgbClr val="F5C518"/>
                </a:solidFill>
                <a:latin typeface="Aptos"/>
              </a:rPr>
              <a:t>0.8667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663440" y="4901184"/>
            <a:ext cx="9144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50" b="1" i="0">
                <a:solidFill>
                  <a:srgbClr val="F5C518"/>
                </a:solidFill>
                <a:latin typeface="Aptos"/>
              </a:rPr>
              <a:t>0.8966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172200" y="1371600"/>
            <a:ext cx="1810512" cy="128016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6172200" y="1371600"/>
            <a:ext cx="1810512" cy="50292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172200" y="1536192"/>
            <a:ext cx="1810512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 i="0">
                <a:solidFill>
                  <a:srgbClr val="00B4D8"/>
                </a:solidFill>
                <a:latin typeface="Aptos"/>
              </a:rPr>
              <a:t>45 ms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6172200" y="2084832"/>
            <a:ext cx="1810512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D0D8EA"/>
                </a:solidFill>
                <a:latin typeface="Aptos"/>
              </a:rPr>
              <a:t>DOM Scan
Latency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183880" y="1371600"/>
            <a:ext cx="1810512" cy="128016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8183880" y="1371600"/>
            <a:ext cx="1810512" cy="50292"/>
          </a:xfrm>
          <a:prstGeom prst="rect">
            <a:avLst/>
          </a:prstGeom>
          <a:solidFill>
            <a:srgbClr val="1E6BD6"/>
          </a:solidFill>
          <a:ln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183880" y="1536192"/>
            <a:ext cx="1810512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 i="0">
                <a:solidFill>
                  <a:srgbClr val="1E6BD6"/>
                </a:solidFill>
                <a:latin typeface="Aptos"/>
              </a:rPr>
              <a:t>220 ms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83880" y="2084832"/>
            <a:ext cx="1810512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D0D8EA"/>
                </a:solidFill>
                <a:latin typeface="Aptos"/>
              </a:rPr>
              <a:t>Average
Round-Trip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195560" y="1371600"/>
            <a:ext cx="1810512" cy="128016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10195560" y="1371600"/>
            <a:ext cx="1810512" cy="50292"/>
          </a:xfrm>
          <a:prstGeom prst="rect">
            <a:avLst/>
          </a:prstGeom>
          <a:solidFill>
            <a:srgbClr val="F5C518"/>
          </a:solidFill>
          <a:ln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10195560" y="1536192"/>
            <a:ext cx="1810512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 i="0">
                <a:solidFill>
                  <a:srgbClr val="F5C518"/>
                </a:solidFill>
                <a:latin typeface="Aptos"/>
              </a:rPr>
              <a:t>93.3%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195560" y="2084832"/>
            <a:ext cx="1810512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D0D8EA"/>
                </a:solidFill>
                <a:latin typeface="Aptos"/>
              </a:rPr>
              <a:t>Dark Pattern
Accuracy</a:t>
            </a:r>
          </a:p>
        </p:txBody>
      </p:sp>
      <p:sp>
        <p:nvSpPr>
          <p:cNvPr id="58" name="Rectangle 57"/>
          <p:cNvSpPr/>
          <p:nvPr/>
        </p:nvSpPr>
        <p:spPr>
          <a:xfrm>
            <a:off x="6172200" y="2834640"/>
            <a:ext cx="1810512" cy="128016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6172200" y="2834640"/>
            <a:ext cx="1810512" cy="50292"/>
          </a:xfrm>
          <a:prstGeom prst="rect">
            <a:avLst/>
          </a:prstGeom>
          <a:solidFill>
            <a:srgbClr val="F39717"/>
          </a:solidFill>
          <a:ln>
            <a:solidFill>
              <a:srgbClr val="F39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6172200" y="2999232"/>
            <a:ext cx="1810512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 i="0">
                <a:solidFill>
                  <a:srgbClr val="F39717"/>
                </a:solidFill>
                <a:latin typeface="Aptos"/>
              </a:rPr>
              <a:t>90.0%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172200" y="3547872"/>
            <a:ext cx="1810512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D0D8EA"/>
                </a:solidFill>
                <a:latin typeface="Aptos"/>
              </a:rPr>
              <a:t>Phishing Model
Accuracy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83880" y="2834640"/>
            <a:ext cx="1810512" cy="128016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183880" y="2834640"/>
            <a:ext cx="1810512" cy="50292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83880" y="2999232"/>
            <a:ext cx="1810512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 i="0">
                <a:solidFill>
                  <a:srgbClr val="27AE60"/>
                </a:solidFill>
                <a:latin typeface="Aptos"/>
              </a:rPr>
              <a:t>0%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8183880" y="3547872"/>
            <a:ext cx="1810512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D0D8EA"/>
                </a:solidFill>
                <a:latin typeface="Aptos"/>
              </a:rPr>
              <a:t>False Positives
on Trusted Sites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195560" y="2834640"/>
            <a:ext cx="1810512" cy="128016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Rectangle 66"/>
          <p:cNvSpPr/>
          <p:nvPr/>
        </p:nvSpPr>
        <p:spPr>
          <a:xfrm>
            <a:off x="10195560" y="2834640"/>
            <a:ext cx="1810512" cy="50292"/>
          </a:xfrm>
          <a:prstGeom prst="rect">
            <a:avLst/>
          </a:prstGeom>
          <a:solidFill>
            <a:srgbClr val="BB86FC"/>
          </a:solidFill>
          <a:ln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10195560" y="2999232"/>
            <a:ext cx="1810512" cy="566928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600" b="1" i="0">
                <a:solidFill>
                  <a:srgbClr val="BB86FC"/>
                </a:solidFill>
                <a:latin typeface="Aptos"/>
              </a:rPr>
              <a:t>99.99%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195560" y="3547872"/>
            <a:ext cx="1810512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050" b="0" i="0">
                <a:solidFill>
                  <a:srgbClr val="D0D8EA"/>
                </a:solidFill>
                <a:latin typeface="Aptos"/>
              </a:rPr>
              <a:t>Max Phishing
Confidence Score</a:t>
            </a:r>
          </a:p>
        </p:txBody>
      </p:sp>
      <p:sp>
        <p:nvSpPr>
          <p:cNvPr id="70" name="Rectangle 69"/>
          <p:cNvSpPr/>
          <p:nvPr/>
        </p:nvSpPr>
        <p:spPr>
          <a:xfrm>
            <a:off x="6172200" y="3977639"/>
            <a:ext cx="5669280" cy="146304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6172200" y="3977639"/>
            <a:ext cx="5669280" cy="50292"/>
          </a:xfrm>
          <a:prstGeom prst="rect">
            <a:avLst/>
          </a:prstGeom>
          <a:solidFill>
            <a:srgbClr val="E74C3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355080" y="4041648"/>
            <a:ext cx="5303520" cy="384048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1" i="0">
                <a:solidFill>
                  <a:srgbClr val="FF8080"/>
                </a:solidFill>
                <a:latin typeface="Aptos"/>
              </a:rPr>
              <a:t>Live Threat Detection Cases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355080" y="4434840"/>
            <a:ext cx="5303520" cy="9601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</a:pPr>
            <a:r>
              <a:rPr sz="1050" b="0">
                <a:solidFill>
                  <a:srgbClr val="D0D8EA"/>
                </a:solidFill>
                <a:latin typeface="Aptos"/>
              </a:rPr>
              <a:t>⚡ verify-paypal-account.ru → Brand Spoofing (Rule A) → conf: 0.9999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D0D8EA"/>
                </a:solidFill>
                <a:latin typeface="Aptos"/>
              </a:rPr>
              <a:t>⚡ secure-banking-portal.xyz → Suspicious TLD (Rule B) → HIGH RISK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D0D8EA"/>
                </a:solidFill>
                <a:latin typeface="Aptos"/>
              </a:rPr>
              <a:t>⚡ "Hurry! Only 2 left!" → Dark Pattern → conf: 0.9980</a:t>
            </a:r>
          </a:p>
          <a:p>
            <a:pPr algn="l">
              <a:spcBef>
                <a:spcPts val="200"/>
              </a:spcBef>
            </a:pPr>
            <a:r>
              <a:rPr sz="1050" b="0">
                <a:solidFill>
                  <a:srgbClr val="D0D8EA"/>
                </a:solidFill>
                <a:latin typeface="Aptos"/>
              </a:rPr>
              <a:t>⚡ "No thanks, I hate saving money." → Confirmshaming → conf: 0.9980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8A98B8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A1F5C"/>
          </a:solidFill>
          <a:ln>
            <a:solidFill>
              <a:srgbClr val="0A1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0292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Screenshots &amp; Live Demo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0B4D8"/>
                </a:solidFill>
                <a:latin typeface="Aptos"/>
              </a:rPr>
              <a:t>Swagger/OpenAPI Testing &amp; Backend API Responses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F5C"/>
          </a:solidFill>
          <a:ln>
            <a:solidFill>
              <a:srgbClr val="0A1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8A98B8"/>
                </a:solidFill>
                <a:latin typeface="Aptos"/>
              </a:rPr>
              <a:t>DESIGN TO DECEIVE  ·  NIT Srinagar  ·  Dept. of Information Technology and Engineering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417320"/>
            <a:ext cx="3611880" cy="338328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Screenshot 2026-06-13 0222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63040"/>
            <a:ext cx="3520440" cy="329184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320040" y="4828032"/>
            <a:ext cx="3611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00B4D8"/>
                </a:solidFill>
                <a:latin typeface="Aptos"/>
              </a:rPr>
              <a:t>Swagger/OpenAPI Interface
(Deception Detection API v1.0)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1417320"/>
            <a:ext cx="3931920" cy="338328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Screenshot 2026-06-13 0223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1463040"/>
            <a:ext cx="3840480" cy="32918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4114800" y="4828032"/>
            <a:ext cx="3931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1E6BD6"/>
                </a:solidFill>
                <a:latin typeface="Aptos"/>
              </a:rPr>
              <a:t>/analyze Endpoint Execution
(Sample phishing + dark pattern payload)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75320" y="1417320"/>
            <a:ext cx="3886200" cy="338328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Screenshot 2026-06-13 0223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21040" y="1463040"/>
            <a:ext cx="3794760" cy="32918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275320" y="4828032"/>
            <a:ext cx="3886200" cy="54864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F5C518"/>
                </a:solidFill>
                <a:latin typeface="Aptos"/>
              </a:rPr>
              <a:t>Successful JSON Response
(Risk score + phishing conf + explanation)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5504688"/>
            <a:ext cx="11521440" cy="749808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5504688"/>
            <a:ext cx="11521440" cy="45720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5559552"/>
            <a:ext cx="1115568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100"/>
              </a:spcBef>
            </a:pPr>
            <a:r>
              <a:rPr sz="1050" b="0">
                <a:solidFill>
                  <a:srgbClr val="D0D8EA"/>
                </a:solidFill>
                <a:latin typeface="Aptos"/>
              </a:rPr>
              <a:t>◆ POST /analyze  ·  Async batch inference  ·  HTTP 200 response</a:t>
            </a:r>
          </a:p>
          <a:p>
            <a:pPr algn="l">
              <a:spcBef>
                <a:spcPts val="100"/>
              </a:spcBef>
            </a:pPr>
            <a:r>
              <a:rPr sz="1050" b="0">
                <a:solidFill>
                  <a:srgbClr val="D0D8EA"/>
                </a:solidFill>
                <a:latin typeface="Aptos"/>
              </a:rPr>
              <a:t>◆ Fields: is_dark_pattern, is_phishing, phishing_risk_level, confidence, explanation, category</a:t>
            </a:r>
          </a:p>
          <a:p>
            <a:pPr algn="l">
              <a:spcBef>
                <a:spcPts val="100"/>
              </a:spcBef>
            </a:pPr>
            <a:r>
              <a:rPr sz="1050" b="0">
                <a:solidFill>
                  <a:srgbClr val="D0D8EA"/>
                </a:solidFill>
                <a:latin typeface="Aptos"/>
              </a:rPr>
              <a:t>◆ overall_risk_score computed using weighted risk band formula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8A98B8"/>
                </a:solidFill>
                <a:latin typeface="Aptos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A1F5C"/>
          </a:solidFill>
          <a:ln>
            <a:solidFill>
              <a:srgbClr val="0A1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0292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Advantages of Proposed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0B4D8"/>
                </a:solidFill>
                <a:latin typeface="Aptos"/>
              </a:rPr>
              <a:t>Key Technical Contributions &amp; Benefits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F5C"/>
          </a:solidFill>
          <a:ln>
            <a:solidFill>
              <a:srgbClr val="0A1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8A98B8"/>
                </a:solidFill>
                <a:latin typeface="Aptos"/>
              </a:rPr>
              <a:t>DESIGN TO DECEIVE  ·  NIT Srinagar  ·  Dept. of Information Technology and Engineering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320040" y="1371600"/>
            <a:ext cx="5486400" cy="1389888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20040" y="1371600"/>
            <a:ext cx="5486400" cy="54864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11480" y="150876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0" i="0">
                <a:solidFill>
                  <a:srgbClr val="00B4D8"/>
                </a:solidFill>
                <a:latin typeface="Segoe UI Emoji"/>
              </a:rPr>
              <a:t>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46304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00B4D8"/>
                </a:solidFill>
                <a:latin typeface="Aptos"/>
              </a:rPr>
              <a:t>Semantic Understanding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1847088"/>
            <a:ext cx="47548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D0D8EA"/>
                </a:solidFill>
                <a:latin typeface="Aptos"/>
              </a:rPr>
              <a:t>RoBERTa captures nuanced intent — detects psychological manipulation and social engineering beyond keyword matching.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309360" y="1371600"/>
            <a:ext cx="5486400" cy="1389888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09360" y="1371600"/>
            <a:ext cx="5486400" cy="54864"/>
          </a:xfrm>
          <a:prstGeom prst="rect">
            <a:avLst/>
          </a:prstGeom>
          <a:solidFill>
            <a:srgbClr val="1E6BD6"/>
          </a:solidFill>
          <a:ln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08760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0" i="0">
                <a:solidFill>
                  <a:srgbClr val="1E6BD6"/>
                </a:solidFill>
                <a:latin typeface="Segoe UI Emoji"/>
              </a:rPr>
              <a:t>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49440" y="1463040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1E6BD6"/>
                </a:solidFill>
                <a:latin typeface="Aptos"/>
              </a:rPr>
              <a:t>Real-Time Intervention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49440" y="1847088"/>
            <a:ext cx="47548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D0D8EA"/>
                </a:solidFill>
                <a:latin typeface="Aptos"/>
              </a:rPr>
              <a:t>Alerts users BEFORE they commit to a harmful action — shifts from incident response to proactive prevention.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2871216"/>
            <a:ext cx="5486400" cy="1389888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20040" y="2871216"/>
            <a:ext cx="5486400" cy="54864"/>
          </a:xfrm>
          <a:prstGeom prst="rect">
            <a:avLst/>
          </a:prstGeom>
          <a:solidFill>
            <a:srgbClr val="F5C518"/>
          </a:solidFill>
          <a:ln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11480" y="3008376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0" i="0">
                <a:solidFill>
                  <a:srgbClr val="F5C518"/>
                </a:solidFill>
                <a:latin typeface="Segoe UI Emoji"/>
              </a:rPr>
              <a:t>🔗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2962656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5C518"/>
                </a:solidFill>
                <a:latin typeface="Aptos"/>
              </a:rPr>
              <a:t>Unified Threat Detection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346704"/>
            <a:ext cx="47548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D0D8EA"/>
                </a:solidFill>
                <a:latin typeface="Aptos"/>
              </a:rPr>
              <a:t>Single extension bridges usability (dark patterns) + security (phishing) — holistic defense in one tool.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09360" y="2871216"/>
            <a:ext cx="5486400" cy="1389888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309360" y="2871216"/>
            <a:ext cx="5486400" cy="54864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008376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0" i="0">
                <a:solidFill>
                  <a:srgbClr val="27AE60"/>
                </a:solidFill>
                <a:latin typeface="Segoe UI Emoji"/>
              </a:rPr>
              <a:t>✅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49440" y="2962656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27AE60"/>
                </a:solidFill>
                <a:latin typeface="Aptos"/>
              </a:rPr>
              <a:t>Contextual, Tiered Alerts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949440" y="3346704"/>
            <a:ext cx="47548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D0D8EA"/>
                </a:solidFill>
                <a:latin typeface="Aptos"/>
              </a:rPr>
              <a:t>Whitelist + reputation rules eliminate false positives on trusted sites while maintaining visibility for real threats.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370832"/>
            <a:ext cx="5486400" cy="1389888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320040" y="4370832"/>
            <a:ext cx="5486400" cy="54864"/>
          </a:xfrm>
          <a:prstGeom prst="rect">
            <a:avLst/>
          </a:prstGeom>
          <a:solidFill>
            <a:srgbClr val="F39717"/>
          </a:solidFill>
          <a:ln>
            <a:solidFill>
              <a:srgbClr val="F39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1480" y="4507992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0" i="0">
                <a:solidFill>
                  <a:srgbClr val="F39717"/>
                </a:solidFill>
                <a:latin typeface="Segoe UI Emoji"/>
              </a:rPr>
              <a:t>🔒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0120" y="4462272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F39717"/>
                </a:solidFill>
                <a:latin typeface="Aptos"/>
              </a:rPr>
              <a:t>Privacy Preservation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60120" y="4846320"/>
            <a:ext cx="47548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D0D8EA"/>
                </a:solidFill>
                <a:latin typeface="Aptos"/>
              </a:rPr>
              <a:t>No password fields scanned. Text data held only in-memory during inference — never persisted to external database.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309360" y="4370832"/>
            <a:ext cx="5486400" cy="1389888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309360" y="4370832"/>
            <a:ext cx="5486400" cy="54864"/>
          </a:xfrm>
          <a:prstGeom prst="rect">
            <a:avLst/>
          </a:prstGeom>
          <a:solidFill>
            <a:srgbClr val="BB86FC"/>
          </a:solidFill>
          <a:ln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0" y="4507992"/>
            <a:ext cx="502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200" b="0" i="0">
                <a:solidFill>
                  <a:srgbClr val="BB86FC"/>
                </a:solidFill>
                <a:latin typeface="Segoe UI Emoji"/>
              </a:rPr>
              <a:t>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949440" y="4462272"/>
            <a:ext cx="47548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500" b="1" i="0">
                <a:solidFill>
                  <a:srgbClr val="BB86FC"/>
                </a:solidFill>
                <a:latin typeface="Aptos"/>
              </a:rPr>
              <a:t>Explainable Alerts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949440" y="4846320"/>
            <a:ext cx="4754880" cy="8229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150" b="0" i="0">
                <a:solidFill>
                  <a:srgbClr val="D0D8EA"/>
                </a:solidFill>
                <a:latin typeface="Aptos"/>
              </a:rPr>
              <a:t>Tooltips provide confidence score, risk band, and human-readable explanation for every flagged element.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8A98B8"/>
                </a:solidFill>
                <a:latin typeface="Apto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34440"/>
          </a:xfrm>
          <a:prstGeom prst="rect">
            <a:avLst/>
          </a:prstGeom>
          <a:solidFill>
            <a:srgbClr val="0A1F5C"/>
          </a:solidFill>
          <a:ln>
            <a:solidFill>
              <a:srgbClr val="0A1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34440"/>
            <a:ext cx="12188952" cy="50292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109728"/>
            <a:ext cx="10515600" cy="6858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FFFFFF"/>
                </a:solidFill>
                <a:latin typeface="Aptos"/>
              </a:rPr>
              <a:t>Future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749808"/>
            <a:ext cx="105156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300" b="0" i="0">
                <a:solidFill>
                  <a:srgbClr val="00B4D8"/>
                </a:solidFill>
                <a:latin typeface="Aptos"/>
              </a:rPr>
              <a:t>Roadmap for Next-Generation Enhancements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10528"/>
            <a:ext cx="12188952" cy="347472"/>
          </a:xfrm>
          <a:prstGeom prst="rect">
            <a:avLst/>
          </a:prstGeom>
          <a:solidFill>
            <a:srgbClr val="0A1F5C"/>
          </a:solidFill>
          <a:ln>
            <a:solidFill>
              <a:srgbClr val="0A1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6528816"/>
            <a:ext cx="10515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900" b="0" i="0">
                <a:solidFill>
                  <a:srgbClr val="8A98B8"/>
                </a:solidFill>
                <a:latin typeface="Aptos"/>
              </a:rPr>
              <a:t>DESIGN TO DECEIVE  ·  NIT Srinagar  ·  Dept. of Information Technology and Engineering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1371600"/>
            <a:ext cx="3566160" cy="196596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" y="1371600"/>
            <a:ext cx="3566160" cy="59436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1463040"/>
            <a:ext cx="502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0" i="0">
                <a:solidFill>
                  <a:srgbClr val="00B4D8"/>
                </a:solidFill>
                <a:latin typeface="Segoe UI Emoji"/>
              </a:rPr>
              <a:t>🖼️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1444752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00B4D8"/>
                </a:solidFill>
                <a:latin typeface="Aptos"/>
              </a:rPr>
              <a:t>Multimodal Analysis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11480" y="1901952"/>
            <a:ext cx="33375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</a:pPr>
            <a:r>
              <a:rPr sz="1100" b="0">
                <a:solidFill>
                  <a:srgbClr val="D0D8EA"/>
                </a:solidFill>
                <a:latin typeface="Aptos"/>
              </a:rPr>
              <a:t>▸ Integrate Computer Vision (CNN) alongside NLP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D0D8EA"/>
                </a:solidFill>
                <a:latin typeface="Aptos"/>
              </a:rPr>
              <a:t>▸ Detect visual dark patterns: grey buttons, contrast tricks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D0D8EA"/>
                </a:solidFill>
                <a:latin typeface="Aptos"/>
              </a:rPr>
              <a:t>▸ DOM screenshot capture + layout-aware detection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069080" y="1371600"/>
            <a:ext cx="3566160" cy="196596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069080" y="1371600"/>
            <a:ext cx="3566160" cy="59436"/>
          </a:xfrm>
          <a:prstGeom prst="rect">
            <a:avLst/>
          </a:prstGeom>
          <a:solidFill>
            <a:srgbClr val="1E6BD6"/>
          </a:solidFill>
          <a:ln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160520" y="1463040"/>
            <a:ext cx="502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0" i="0">
                <a:solidFill>
                  <a:srgbClr val="1E6BD6"/>
                </a:solidFill>
                <a:latin typeface="Segoe UI Emoji"/>
              </a:rPr>
              <a:t>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09160" y="1444752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1E6BD6"/>
                </a:solidFill>
                <a:latin typeface="Aptos"/>
              </a:rPr>
              <a:t>Mobile Browser Support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06240" y="1901952"/>
            <a:ext cx="33375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</a:pPr>
            <a:r>
              <a:rPr sz="1100" b="0">
                <a:solidFill>
                  <a:srgbClr val="D0D8EA"/>
                </a:solidFill>
                <a:latin typeface="Aptos"/>
              </a:rPr>
              <a:t>▸ Extend to Firefox for Android &amp; Safari iOS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D0D8EA"/>
                </a:solidFill>
                <a:latin typeface="Aptos"/>
              </a:rPr>
              <a:t>▸ Adapt MutationObserver to mobile SPA rendering patterns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D0D8EA"/>
                </a:solidFill>
                <a:latin typeface="Aptos"/>
              </a:rPr>
              <a:t>▸ Lightweight inference for mobile constraints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863840" y="1371600"/>
            <a:ext cx="3566160" cy="196596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7863840" y="1371600"/>
            <a:ext cx="3566160" cy="59436"/>
          </a:xfrm>
          <a:prstGeom prst="rect">
            <a:avLst/>
          </a:prstGeom>
          <a:solidFill>
            <a:srgbClr val="F5C518"/>
          </a:solidFill>
          <a:ln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955280" y="1463040"/>
            <a:ext cx="502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0" i="0">
                <a:solidFill>
                  <a:srgbClr val="F5C518"/>
                </a:solidFill>
                <a:latin typeface="Segoe UI Emoji"/>
              </a:rPr>
              <a:t>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3920" y="1444752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5C518"/>
                </a:solidFill>
                <a:latin typeface="Aptos"/>
              </a:rPr>
              <a:t>Multilingual NLP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001000" y="1901952"/>
            <a:ext cx="33375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</a:pPr>
            <a:r>
              <a:rPr sz="1100" b="0">
                <a:solidFill>
                  <a:srgbClr val="D0D8EA"/>
                </a:solidFill>
                <a:latin typeface="Aptos"/>
              </a:rPr>
              <a:t>▸ Deploy XLM-RoBERTa for cross-lingual support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D0D8EA"/>
                </a:solidFill>
                <a:latin typeface="Aptos"/>
              </a:rPr>
              <a:t>▸ Detection across 100+ languages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D0D8EA"/>
                </a:solidFill>
                <a:latin typeface="Aptos"/>
              </a:rPr>
              <a:t>▸ Expanding protection to diverse global users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74320" y="3502152"/>
            <a:ext cx="3566160" cy="196596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74320" y="3502152"/>
            <a:ext cx="3566160" cy="59436"/>
          </a:xfrm>
          <a:prstGeom prst="rect">
            <a:avLst/>
          </a:prstGeom>
          <a:solidFill>
            <a:srgbClr val="F39717"/>
          </a:solidFill>
          <a:ln>
            <a:solidFill>
              <a:srgbClr val="F3971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3593592"/>
            <a:ext cx="502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0" i="0">
                <a:solidFill>
                  <a:srgbClr val="F39717"/>
                </a:solidFill>
                <a:latin typeface="Segoe UI Emoji"/>
              </a:rPr>
              <a:t>⚙️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" y="3575304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F39717"/>
                </a:solidFill>
                <a:latin typeface="Aptos"/>
              </a:rPr>
              <a:t>Edge / On-Device ML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11480" y="4032504"/>
            <a:ext cx="33375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</a:pPr>
            <a:r>
              <a:rPr sz="1100" b="0">
                <a:solidFill>
                  <a:srgbClr val="D0D8EA"/>
                </a:solidFill>
                <a:latin typeface="Aptos"/>
              </a:rPr>
              <a:t>▸ Compile quantized models (TinyBERT/MobileBERT) to WASM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D0D8EA"/>
                </a:solidFill>
                <a:latin typeface="Aptos"/>
              </a:rPr>
              <a:t>▸ Eliminate backend dependency → zero latency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D0D8EA"/>
                </a:solidFill>
                <a:latin typeface="Aptos"/>
              </a:rPr>
              <a:t>▸ Absolute privacy — no data leaves the browser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069080" y="3502152"/>
            <a:ext cx="3566160" cy="196596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069080" y="3502152"/>
            <a:ext cx="3566160" cy="59436"/>
          </a:xfrm>
          <a:prstGeom prst="rect">
            <a:avLst/>
          </a:prstGeom>
          <a:solidFill>
            <a:srgbClr val="BB86FC"/>
          </a:solidFill>
          <a:ln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160520" y="3593592"/>
            <a:ext cx="502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0" i="0">
                <a:solidFill>
                  <a:srgbClr val="BB86FC"/>
                </a:solidFill>
                <a:latin typeface="Segoe UI Emoji"/>
              </a:rPr>
              <a:t>👥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3575304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BB86FC"/>
                </a:solidFill>
                <a:latin typeface="Aptos"/>
              </a:rPr>
              <a:t>Crowdsourced Threat Intel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206240" y="4032504"/>
            <a:ext cx="33375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</a:pPr>
            <a:r>
              <a:rPr sz="1100" b="0">
                <a:solidFill>
                  <a:srgbClr val="D0D8EA"/>
                </a:solidFill>
                <a:latin typeface="Aptos"/>
              </a:rPr>
              <a:t>▸ User-driven feedback loop from tooltips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D0D8EA"/>
                </a:solidFill>
                <a:latin typeface="Aptos"/>
              </a:rPr>
              <a:t>▸ False positive / missed detection reporting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D0D8EA"/>
                </a:solidFill>
                <a:latin typeface="Aptos"/>
              </a:rPr>
              <a:t>▸ Continuous fine-tuning of models from real traffic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863840" y="3502152"/>
            <a:ext cx="3566160" cy="196596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863840" y="3502152"/>
            <a:ext cx="3566160" cy="59436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955280" y="3593592"/>
            <a:ext cx="502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000" b="0" i="0">
                <a:solidFill>
                  <a:srgbClr val="27AE60"/>
                </a:solidFill>
                <a:latin typeface="Segoe UI Emoji"/>
              </a:rPr>
              <a:t>🔐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3920" y="3575304"/>
            <a:ext cx="283464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1400" b="1" i="0">
                <a:solidFill>
                  <a:srgbClr val="27AE60"/>
                </a:solidFill>
                <a:latin typeface="Aptos"/>
              </a:rPr>
              <a:t>Regulatory Compliance Layer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01000" y="4032504"/>
            <a:ext cx="3337560" cy="1371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200"/>
              </a:spcBef>
            </a:pPr>
            <a:r>
              <a:rPr sz="1100" b="0">
                <a:solidFill>
                  <a:srgbClr val="D0D8EA"/>
                </a:solidFill>
                <a:latin typeface="Aptos"/>
              </a:rPr>
              <a:t>▸ Automated GDPR dark pattern violation flagging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D0D8EA"/>
                </a:solidFill>
                <a:latin typeface="Aptos"/>
              </a:rPr>
              <a:t>▸ Export detection reports for legal evidence</a:t>
            </a:r>
          </a:p>
          <a:p>
            <a:pPr algn="l">
              <a:spcBef>
                <a:spcPts val="200"/>
              </a:spcBef>
            </a:pPr>
            <a:r>
              <a:rPr sz="1100" b="0">
                <a:solidFill>
                  <a:srgbClr val="D0D8EA"/>
                </a:solidFill>
                <a:latin typeface="Aptos"/>
              </a:rPr>
              <a:t>▸ Integration with FTC / EDPB compliance tools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8A98B8"/>
                </a:solidFill>
                <a:latin typeface="Aptos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10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1E6BD6"/>
          </a:solidFill>
          <a:ln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20040" y="0"/>
            <a:ext cx="12188952" cy="73152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64592"/>
            <a:ext cx="9144000" cy="594360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3200" b="1" i="0">
                <a:solidFill>
                  <a:srgbClr val="FFFFFF"/>
                </a:solidFill>
                <a:latin typeface="Aptos"/>
              </a:rPr>
              <a:t>Conclusion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749808"/>
            <a:ext cx="9601200" cy="50292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8412480" cy="4114800"/>
          </a:xfrm>
          <a:prstGeom prst="rect">
            <a:avLst/>
          </a:prstGeom>
          <a:solidFill>
            <a:srgbClr val="0A1F5C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57200" y="914400"/>
            <a:ext cx="8412480" cy="59436"/>
          </a:xfrm>
          <a:prstGeom prst="rect">
            <a:avLst/>
          </a:prstGeom>
          <a:solidFill>
            <a:srgbClr val="1E6BD6"/>
          </a:solidFill>
          <a:ln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987552"/>
            <a:ext cx="8046720" cy="3977639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Bef>
                <a:spcPts val="500"/>
              </a:spcBef>
            </a:pPr>
            <a:r>
              <a:rPr sz="1250" b="0">
                <a:solidFill>
                  <a:srgbClr val="D0D8EA"/>
                </a:solidFill>
                <a:latin typeface="Aptos"/>
              </a:rPr>
              <a:t>✓  Successfully developed an AI-powered browser extension for real-time detection of both dark patterns and phishing attacks</a:t>
            </a:r>
          </a:p>
          <a:p>
            <a:pPr algn="l">
              <a:spcBef>
                <a:spcPts val="500"/>
              </a:spcBef>
            </a:pPr>
            <a:r>
              <a:rPr sz="1250" b="0">
                <a:solidFill>
                  <a:srgbClr val="D0D8EA"/>
                </a:solidFill>
                <a:latin typeface="Aptos"/>
              </a:rPr>
              <a:t>✓  RoBERTa-based NLP models integrated into active browsing environment — achieving 93.3% dark pattern &amp; 90.0% phishing accuracy</a:t>
            </a:r>
          </a:p>
          <a:p>
            <a:pPr algn="l">
              <a:spcBef>
                <a:spcPts val="500"/>
              </a:spcBef>
            </a:pPr>
            <a:r>
              <a:rPr sz="1250" b="0">
                <a:solidFill>
                  <a:srgbClr val="D0D8EA"/>
                </a:solidFill>
                <a:latin typeface="Aptos"/>
              </a:rPr>
              <a:t>✓  Hybrid 7-rule decision engine eliminates 100% false positives on trusted platforms (GitHub, Google, PayPal, Microsoft)</a:t>
            </a:r>
          </a:p>
          <a:p>
            <a:pPr algn="l">
              <a:spcBef>
                <a:spcPts val="500"/>
              </a:spcBef>
            </a:pPr>
            <a:r>
              <a:rPr sz="1250" b="0">
                <a:solidFill>
                  <a:srgbClr val="D0D8EA"/>
                </a:solidFill>
                <a:latin typeface="Aptos"/>
              </a:rPr>
              <a:t>✓  Sub-second response (220ms avg) ensures seamless real-time browsing protection without performance degradation</a:t>
            </a:r>
          </a:p>
          <a:p>
            <a:pPr algn="l">
              <a:spcBef>
                <a:spcPts val="500"/>
              </a:spcBef>
            </a:pPr>
            <a:r>
              <a:rPr sz="1250" b="0">
                <a:solidFill>
                  <a:srgbClr val="D0D8EA"/>
                </a:solidFill>
                <a:latin typeface="Aptos"/>
              </a:rPr>
              <a:t>✓  System validated via Swagger/OpenAPI with high-confidence detections on brand-spoofing, urgency, and confirmshaming</a:t>
            </a:r>
          </a:p>
          <a:p>
            <a:pPr algn="l">
              <a:spcBef>
                <a:spcPts val="500"/>
              </a:spcBef>
            </a:pPr>
            <a:r>
              <a:rPr sz="1250" b="0">
                <a:solidFill>
                  <a:srgbClr val="D0D8EA"/>
                </a:solidFill>
                <a:latin typeface="Aptos"/>
              </a:rPr>
              <a:t>✓  Contributes to safer, more transparent internet by bridging cybersecurity and usability in a unified framework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0" y="822960"/>
            <a:ext cx="2743200" cy="4206240"/>
          </a:xfrm>
          <a:prstGeom prst="rect">
            <a:avLst/>
          </a:prstGeom>
          <a:solidFill>
            <a:srgbClr val="081845"/>
          </a:solidFill>
          <a:ln w="6350"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9144000" y="822960"/>
            <a:ext cx="2743200" cy="64008"/>
          </a:xfrm>
          <a:prstGeom prst="rect">
            <a:avLst/>
          </a:prstGeom>
          <a:solidFill>
            <a:srgbClr val="F5C518"/>
          </a:solidFill>
          <a:ln>
            <a:solidFill>
              <a:srgbClr val="F5C5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89720" y="1143000"/>
            <a:ext cx="26517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2400" b="1" i="0">
                <a:solidFill>
                  <a:srgbClr val="F5C518"/>
                </a:solidFill>
                <a:latin typeface="Aptos"/>
              </a:rPr>
              <a:t>Thank You!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89720" y="1783080"/>
            <a:ext cx="26517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600" b="0" i="0">
                <a:solidFill>
                  <a:srgbClr val="00B4D8"/>
                </a:solidFill>
                <a:latin typeface="Aptos"/>
              </a:rPr>
              <a:t>Questions &amp;
Discussion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326880" y="2578608"/>
            <a:ext cx="2377440" cy="36576"/>
          </a:xfrm>
          <a:prstGeom prst="rect">
            <a:avLst/>
          </a:prstGeom>
          <a:solidFill>
            <a:srgbClr val="8A98B8"/>
          </a:solidFill>
          <a:ln>
            <a:solidFill>
              <a:srgbClr val="8A98B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89720" y="2651760"/>
            <a:ext cx="2651760" cy="8686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50" b="0" i="0">
                <a:solidFill>
                  <a:srgbClr val="FFFFFF"/>
                </a:solidFill>
                <a:latin typeface="Aptos"/>
              </a:rPr>
              <a:t>Musharaf Maqbool
Mohammad Huzaif
Gazi M. Rayan Shah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9720" y="3520440"/>
            <a:ext cx="265176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D0D8EA"/>
                </a:solidFill>
                <a:latin typeface="Aptos"/>
              </a:rPr>
              <a:t>Under Guidance of
Dr. Shabir Ahmad Sofi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89720" y="4160520"/>
            <a:ext cx="2651760" cy="59436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8A98B8"/>
                </a:solidFill>
                <a:latin typeface="Aptos"/>
              </a:rPr>
              <a:t>NIT Srinagar
June 2026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20040" y="5212080"/>
            <a:ext cx="11868912" cy="548640"/>
          </a:xfrm>
          <a:prstGeom prst="rect">
            <a:avLst/>
          </a:prstGeom>
          <a:solidFill>
            <a:srgbClr val="0A1F5C"/>
          </a:solidFill>
          <a:ln>
            <a:solidFill>
              <a:srgbClr val="0A1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20040" y="5212080"/>
            <a:ext cx="11868912" cy="50292"/>
          </a:xfrm>
          <a:prstGeom prst="rect">
            <a:avLst/>
          </a:prstGeom>
          <a:solidFill>
            <a:srgbClr val="00B4D8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94360" y="5276088"/>
            <a:ext cx="111556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8A98B8"/>
                </a:solidFill>
                <a:latin typeface="Aptos"/>
              </a:rPr>
              <a:t>Keywords:  Dark Patterns  ·  Phishing Detection  ·  RoBERTa NLP  ·  Chrome Extension  ·  FastAPI  ·  Real-Time Threat Detection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5806440"/>
            <a:ext cx="11868912" cy="1051560"/>
          </a:xfrm>
          <a:prstGeom prst="rect">
            <a:avLst/>
          </a:prstGeom>
          <a:solidFill>
            <a:srgbClr val="0A1F5C"/>
          </a:solidFill>
          <a:ln>
            <a:solidFill>
              <a:srgbClr val="0A1F5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20040" y="5806440"/>
            <a:ext cx="11868912" cy="50292"/>
          </a:xfrm>
          <a:prstGeom prst="rect">
            <a:avLst/>
          </a:prstGeom>
          <a:solidFill>
            <a:srgbClr val="1E6BD6"/>
          </a:solidFill>
          <a:ln>
            <a:solidFill>
              <a:srgbClr val="1E6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94360" y="5870448"/>
            <a:ext cx="10972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300" b="1" i="0">
                <a:solidFill>
                  <a:srgbClr val="FFFFFF"/>
                </a:solidFill>
                <a:latin typeface="Aptos"/>
              </a:rPr>
              <a:t>Department of Information Technology and Engineering  ·  National Institute of Technology Srinagar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291072"/>
            <a:ext cx="10972800" cy="347472"/>
          </a:xfrm>
          <a:prstGeom prst="rect">
            <a:avLst/>
          </a:prstGeom>
          <a:noFill/>
        </p:spPr>
        <p:txBody>
          <a:bodyPr wrap="square"/>
          <a:lstStyle/>
          <a:p>
            <a:pPr algn="ctr"/>
            <a:r>
              <a:rPr sz="1100" b="0" i="0">
                <a:solidFill>
                  <a:srgbClr val="8A98B8"/>
                </a:solidFill>
                <a:latin typeface="Aptos"/>
              </a:rPr>
              <a:t>B.Tech Final Year Project  ·  Session 2025–2026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0" y="6400800"/>
            <a:ext cx="548640" cy="320040"/>
          </a:xfrm>
          <a:prstGeom prst="rect">
            <a:avLst/>
          </a:prstGeom>
          <a:noFill/>
        </p:spPr>
        <p:txBody>
          <a:bodyPr wrap="square"/>
          <a:lstStyle/>
          <a:p>
            <a:pPr algn="r"/>
            <a:r>
              <a:rPr sz="1000" b="0" i="0">
                <a:solidFill>
                  <a:srgbClr val="8A98B8"/>
                </a:solidFill>
                <a:latin typeface="Aptos"/>
              </a:rPr>
              <a:t>16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